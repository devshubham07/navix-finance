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promise, not the tech: 'Everything you're about to see is running software — a real state machine, real KYC providers, a real audit trail. We built it for one NBFC and we can build it for you.' Say the runtime up front so nobody wonders how long this will take. Do NOT open the app yet — the deck sets up what they should be looking for before they see a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pain before the product. If the room is a startup NBFC, the line that works is '12-18 months before the first disbursal.' If it's an existing lender, the line is 'the reconciliation tax' — they already live it. Ask which one they are and lean on that half. Don't name competitor products.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Read three numbers, not eight — '8 mandatory checks, 51 test classes, live on AWS' — and move. If a technical buyer stops you here, the detail is on slides 21-24; say so and keep the walkthrough moving. The 49-seeded-apps number matters more than it looks: it's why we can demo every edge state on demand.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line is the one to say out loud: risk bands change the limit, never the price. It pre-empts the 'is this risk-based pricing?' question and it's a real product decision the client made. Also flag integer paise — anyone who has debugged a floating-point ledger will react to that. Walk the ₹10,000 example on your fingers; it makes the whole economics concrete in fifteen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gate line, not the boxes. The differentiator versus a form-driven onboarding is that completeness is enforced server-side — the API refuses. Mention that a KYC approver can still manually override a single borderline check, and that the override is itself audited (slide 14) — so the gate is strict without being operationally stupid.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short — it's table stakes and the room knows it. The one thing worth dwelling on is resumability: real borrowers abandon mid-KYC, and the session-at-step-one design is why they come back to the right screen instead of starting over. If you're driving the live app, this is where you show the OTP arriving on a handset.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us from a demo build, so slow down. Two specifics to say out loud: (1) we gate on the Aadhaar document's digital signature, so a screenshot of an Aadhaar is worthless; (2) the selfie is matched against the DigiLocker photo, not against a self-uploaded ID. Then the operational point: it degrades instead of blocking, because a provider outage must not stop origination.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commercial point here is fallback: a single-bureau integration means every thin file is a lost customer. We route per capability with a second provider behind it. Second point: penny-drop before disbursal is the cheapest fraud control in the stack — one rupee to confirm the account name. Don't read the star rating as a credit decision; it's a staff aid, and slide 16 says who actually decides.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sell this screen. First, transparency: fee and GST are visible before consent, which is where most complaints and most regulatory attention land. Second, the salary-linked due date — this is the product's actual risk control, and the borrower can see it move as they change the amount. If asked 'why not EMIs': one instalment on payday means nothing to service and nothing to reconcile.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reborrow path is the revenue slide of the borrower half — repeat borrowers are the margin, and here they get money in minutes without re-verification, while anyone who was ever overdue is quietly routed to a human. Say 'past delinquency is the only gate — not the credit score', because that's a deliberate product choice the client made and it usually starts a good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beat. Say: 'Everything so far was the easy half. Any agency can build a pretty onboarding funnel. What follows is the part that decides whether you can actually operate — and pass an audit.'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architectural claim of the whole deck: one row, one status, one log. Contrast it explicitly — 'in a three-vendor stack, this diagram is spread across three databases and nobody owns the join.' Name the three error codes; they're concrete proof the rules are server-side, not UI convention.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two rows only: Credit Head ('cannot approve their own recommendation') and Collection Executive ('salary and employer hidden'). Those two show the granularity without reading a table aloud. The footer is for the security-minded buyer: two separate token audiences, not one system with a role flag.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operational sell: no training manual. A new hire signs in and the page already contains only what they may do. When you demo this live, switch roles once and let them watch the panels change — that single moment does more than this slide. Let the page settle before you narrate; there's a brief placeholder while the session resolves.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honest thing about overrides: automated KYC is never 100%, so the choice is between an audited override and staff finding a workaround. We built the audited override. Note the dashboard tracks pending work only — decided applications leave it, by design; it's a work queue, not a history log. Don't hunt for an approved applicant here on camera.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fast path is a policy choice made explicit in software: your credit team's time goes to the files that need it. Be clear that it's configurable policy, not a shortcut we took — the full maker-checker chain is one setting away, and the unreviewed fast path is still fully audited. Prospects with a conservative credit committee will ask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score pill and say the two rules together: staff-only, and it does not move the price. Then open the audit log — 'every action, actor, timestamp' is the line that lands with anyone who has sat through an audit. If you land on a fast-tracked reborrow, call out the fast-track marker so nobody thinks a stage was skipped silently.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and stop moving the mouse. This is the whole pitch in one slide. The strongest move in the room is volunteering the admin exemption before anyone asks — it converts 'vendor claims compliance' into 'these people know where their own edges are.' If you demo it, use two real personas handing off; do not try to trigger the violation live as admin, because admin is exactly the exempt case.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principle worth stating: no automatic reconciliation. A human confirms that money actually moved, because a false positive here is a real loss. Two release paths exist because a two-person control on every disbursal is right at scale and paralysing at ten loans a day — the client chose per-case. On the ledger, set the period to 'all time' before you talk, or it will look empty.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to say: 'computed on read, never stored' (so DPD cannot silently rot) and 'proof is mandatory on PAID' (so a collections officer cannot clear a case on their word alone). Settlement maker-checker is the same control as credit, applied where the write-off risk actually is. Note the executive cannot see salary or employer fields — need-to-know, enforced server-side.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audited-edit beat demos beautifully: bump a salary, then scroll to change history and show the row that just appeared. Do it live if you can. The admin-only export rule is worth naming — it's the answer to 'how do I stop a junior walking out with the book?' Everything on this slide is the stuff prospects discover they need in month two and then pay to retrofit.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this at the CTO or the technical advisor in the room. The closing line is the real point: we chose a stack they can hire for, not one that keeps them dependent on us. Saying that out loud tends to win the technical veto. If they push for detail, the deployment runbook and every resource id are documented in the repo — offer to walk it after.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table. Say: 'every one of these is live-tested against the real provider, and each sits behind a port so switching vendors is configuration.' Then tell the bounce-suppression story — it's small, concrete, and signals the kind of thing that only shows up in software written by people who have operated it. Be straight about the two 'in review' rows; slide 25 covers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finance audience, 'no floating point touches money' and 'one balance function, everywhere' are the two sentences that matter — most of them have been burned by a system where two screens disagreed about what a customer owed. For a technical audience, the audit log being the input to the control (not a byproduct) is the elegant bit. Pick your half based on who is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fear nobody says out loud: 'will we be hostage to this vendor?' Lead with the seeded demo environment and the onboarding doc — those are what let their own team take over. The walkthrough script line is unusual enough that it tends to get remembered.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Counter-intuitively this is the slide that closes deals. Deliver it flatly, no hedging, no apology. The last line is the strongest thing on it: this list already existed as an internal checklist, which means we track our own gaps as a habit. If someone asks 'so it's not production-ready?' — the honest answer is that the software is; the third-party approvals and the payout integration are the runway, and both are shorter than an NBFC's own licensing timeline.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guess pricing on your feet — the placeholders are there so you fill them in before the meeting, per prospect. Ask which of the three they think they are and let them self-select; the answer tells you the deal size faster than any qualifying question. The white-label timeline is the hook: 'weeks' is only credible because they just watched the product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invitation, not a summary. 'Bring your compliance lead' is the confident move — vendors who fake it never say that. Fill in the contact line before you present, and if the deck is being left behind, add the reference-client line you agreed on slide 27.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371600"/>
            <a:ext cx="10874959" cy="365760"/>
          </a:xfrm>
          <a:prstGeom prst="rect">
            <a:avLst/>
          </a:prstGeom>
          <a:noFill/>
        </p:spPr>
        <p:txBody>
          <a:bodyPr wrap="square" anchor="t" lIns="0" rIns="0" tIns="0" bIns="0">
            <a:spAutoFit/>
          </a:bodyPr>
          <a:lstStyle/>
          <a:p>
            <a:pPr>
              <a:lnSpc>
                <a:spcPct val="115000"/>
              </a:lnSpc>
              <a:spcAft>
                <a:spcPts val="0"/>
              </a:spcAft>
            </a:pPr>
            <a:r>
              <a:rPr sz="1200" b="1">
                <a:solidFill>
                  <a:srgbClr val="E9B53A"/>
                </a:solidFill>
                <a:latin typeface="Verdana"/>
              </a:rPr>
              <a:t>SoftSolutionsAI  ·  softsolutionsai.com</a:t>
            </a:r>
          </a:p>
        </p:txBody>
      </p:sp>
      <p:sp>
        <p:nvSpPr>
          <p:cNvPr id="5" name="TextBox 4"/>
          <p:cNvSpPr txBox="1"/>
          <p:nvPr/>
        </p:nvSpPr>
        <p:spPr>
          <a:xfrm>
            <a:off x="658368" y="1920240"/>
            <a:ext cx="9692640" cy="2194560"/>
          </a:xfrm>
          <a:prstGeom prst="rect">
            <a:avLst/>
          </a:prstGeom>
          <a:noFill/>
        </p:spPr>
        <p:txBody>
          <a:bodyPr wrap="square" anchor="t" lIns="0" rIns="0" tIns="0" bIns="0">
            <a:spAutoFit/>
          </a:bodyPr>
          <a:lstStyle/>
          <a:p>
            <a:pPr>
              <a:lnSpc>
                <a:spcPct val="115000"/>
              </a:lnSpc>
              <a:spcAft>
                <a:spcPts val="0"/>
              </a:spcAft>
            </a:pPr>
            <a:r>
              <a:rPr sz="4400" b="1">
                <a:solidFill>
                  <a:srgbClr val="FFFFFF"/>
                </a:solidFill>
                <a:latin typeface="Verdana"/>
              </a:rPr>
              <a:t>We ship lending platforms,</a:t>
            </a:r>
          </a:p>
          <a:p>
            <a:pPr>
              <a:lnSpc>
                <a:spcPct val="115000"/>
              </a:lnSpc>
              <a:spcAft>
                <a:spcPts val="1000"/>
              </a:spcAft>
            </a:pPr>
            <a:r>
              <a:rPr sz="4400" b="1">
                <a:solidFill>
                  <a:srgbClr val="FFFFFF"/>
                </a:solidFill>
                <a:latin typeface="Verdana"/>
              </a:rPr>
              <a:t>not prototypes.</a:t>
            </a:r>
          </a:p>
        </p:txBody>
      </p:sp>
      <p:sp>
        <p:nvSpPr>
          <p:cNvPr id="6" name="TextBox 5"/>
          <p:cNvSpPr txBox="1"/>
          <p:nvPr/>
        </p:nvSpPr>
        <p:spPr>
          <a:xfrm>
            <a:off x="658368" y="3977639"/>
            <a:ext cx="8778240" cy="1463040"/>
          </a:xfrm>
          <a:prstGeom prst="rect">
            <a:avLst/>
          </a:prstGeom>
          <a:noFill/>
        </p:spPr>
        <p:txBody>
          <a:bodyPr wrap="square" anchor="t" lIns="0" rIns="0" tIns="0" bIns="0">
            <a:spAutoFit/>
          </a:bodyPr>
          <a:lstStyle/>
          <a:p>
            <a:pPr>
              <a:lnSpc>
                <a:spcPct val="115000"/>
              </a:lnSpc>
              <a:spcAft>
                <a:spcPts val="0"/>
              </a:spcAft>
            </a:pPr>
            <a:r>
              <a:rPr sz="1700" b="0">
                <a:solidFill>
                  <a:srgbClr val="FDFBF6"/>
                </a:solidFill>
                <a:latin typeface="Verdana"/>
              </a:rPr>
              <a:t>Case study: DhanBoost — a salary-linked digital lending platform, built end to end and running in production on AWS.</a:t>
            </a:r>
          </a:p>
        </p:txBody>
      </p:sp>
      <p:sp>
        <p:nvSpPr>
          <p:cNvPr id="7" name="TextBox 6"/>
          <p:cNvSpPr txBox="1"/>
          <p:nvPr/>
        </p:nvSpPr>
        <p:spPr>
          <a:xfrm>
            <a:off x="658368" y="5623560"/>
            <a:ext cx="8778240" cy="457200"/>
          </a:xfrm>
          <a:prstGeom prst="rect">
            <a:avLst/>
          </a:prstGeom>
          <a:noFill/>
        </p:spPr>
        <p:txBody>
          <a:bodyPr wrap="square" anchor="t" lIns="0" rIns="0" tIns="0" bIns="0">
            <a:spAutoFit/>
          </a:bodyPr>
          <a:lstStyle/>
          <a:p>
            <a:pPr>
              <a:lnSpc>
                <a:spcPct val="115000"/>
              </a:lnSpc>
              <a:spcAft>
                <a:spcPts val="0"/>
              </a:spcAft>
            </a:pPr>
            <a:r>
              <a:rPr sz="1200" b="0">
                <a:solidFill>
                  <a:srgbClr val="E9B53A"/>
                </a:solidFill>
                <a:latin typeface="Verdana"/>
              </a:rPr>
              <a:t>Product walkthrough  ·  borrower journey + 9-role back office  ·  ~35 minutes</a:t>
            </a:r>
          </a:p>
        </p:txBody>
      </p:sp>
      <p:pic>
        <p:nvPicPr>
          <p:cNvPr id="8" name="Picture 7" descr="dhanboost-mark.png"/>
          <p:cNvPicPr>
            <a:picLocks noChangeAspect="1"/>
          </p:cNvPicPr>
          <p:nvPr/>
        </p:nvPicPr>
        <p:blipFill>
          <a:blip r:embed="rId2"/>
          <a:stretch>
            <a:fillRect/>
          </a:stretch>
        </p:blipFill>
        <p:spPr>
          <a:xfrm>
            <a:off x="10710367" y="5376672"/>
            <a:ext cx="822960"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THE PROBLEM</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Standing up a lending business is an integration problem</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Most vendors sell you one box on the diagram. You own everything between the boxes.</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What you can buy off the shelf</a:t>
            </a:r>
          </a:p>
          <a:p>
            <a:pPr>
              <a:lnSpc>
                <a:spcPct val="115000"/>
              </a:lnSpc>
              <a:spcAft>
                <a:spcPts val="1000"/>
              </a:spcAft>
            </a:pPr>
            <a:r>
              <a:rPr sz="1250" b="0">
                <a:solidFill>
                  <a:srgbClr val="10151B"/>
                </a:solidFill>
                <a:latin typeface="Verdana"/>
              </a:rPr>
              <a:t>•  A LOS for origination. An LMS for the ledger. A collections tool. Three KYC vendors.</a:t>
            </a:r>
          </a:p>
          <a:p>
            <a:pPr>
              <a:lnSpc>
                <a:spcPct val="115000"/>
              </a:lnSpc>
              <a:spcAft>
                <a:spcPts val="1000"/>
              </a:spcAft>
            </a:pPr>
            <a:r>
              <a:rPr sz="1250" b="0">
                <a:solidFill>
                  <a:srgbClr val="10151B"/>
                </a:solidFill>
                <a:latin typeface="Verdana"/>
              </a:rPr>
              <a:t>•  Each one owns its own database, its own idea of a 'customer', and its own definition of 'approved'.</a:t>
            </a:r>
          </a:p>
          <a:p>
            <a:pPr>
              <a:lnSpc>
                <a:spcPct val="115000"/>
              </a:lnSpc>
              <a:spcAft>
                <a:spcPts val="500"/>
              </a:spcAft>
            </a:pPr>
            <a:r>
              <a:rPr sz="1350" b="1">
                <a:solidFill>
                  <a:srgbClr val="0C2540"/>
                </a:solidFill>
                <a:latin typeface="Verdana"/>
              </a:rPr>
              <a:t>What you still have to build</a:t>
            </a:r>
          </a:p>
          <a:p>
            <a:pPr>
              <a:lnSpc>
                <a:spcPct val="115000"/>
              </a:lnSpc>
              <a:spcAft>
                <a:spcPts val="1000"/>
              </a:spcAft>
            </a:pPr>
            <a:r>
              <a:rPr sz="1250" b="0">
                <a:solidFill>
                  <a:srgbClr val="10151B"/>
                </a:solidFill>
                <a:latin typeface="Verdana"/>
              </a:rPr>
              <a:t>•  The state machine that decides what is allowed to happen next, and by whom.</a:t>
            </a:r>
          </a:p>
          <a:p>
            <a:pPr>
              <a:lnSpc>
                <a:spcPct val="115000"/>
              </a:lnSpc>
              <a:spcAft>
                <a:spcPts val="1000"/>
              </a:spcAft>
            </a:pPr>
            <a:r>
              <a:rPr sz="1250" b="0">
                <a:solidFill>
                  <a:srgbClr val="10151B"/>
                </a:solidFill>
                <a:latin typeface="Verdana"/>
              </a:rPr>
              <a:t>•  Separation of duties that an auditor will accept.</a:t>
            </a:r>
          </a:p>
          <a:p>
            <a:pPr>
              <a:lnSpc>
                <a:spcPct val="115000"/>
              </a:lnSpc>
              <a:spcAft>
                <a:spcPts val="1000"/>
              </a:spcAft>
            </a:pPr>
            <a:r>
              <a:rPr sz="1250" b="0">
                <a:solidFill>
                  <a:srgbClr val="10151B"/>
                </a:solidFill>
                <a:latin typeface="Verdana"/>
              </a:rPr>
              <a:t>•  One audit trail that spans origination, disbursal, repayment and collections.</a:t>
            </a:r>
          </a:p>
        </p:txBody>
      </p:sp>
      <p:sp>
        <p:nvSpPr>
          <p:cNvPr id="8" name="TextBox 7"/>
          <p:cNvSpPr txBox="1"/>
          <p:nvPr/>
        </p:nvSpPr>
        <p:spPr>
          <a:xfrm>
            <a:off x="6370167"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What it costs you</a:t>
            </a:r>
          </a:p>
          <a:p>
            <a:pPr>
              <a:lnSpc>
                <a:spcPct val="115000"/>
              </a:lnSpc>
              <a:spcAft>
                <a:spcPts val="1000"/>
              </a:spcAft>
            </a:pPr>
            <a:r>
              <a:rPr sz="1250" b="0">
                <a:solidFill>
                  <a:srgbClr val="10151B"/>
                </a:solidFill>
                <a:latin typeface="Verdana"/>
              </a:rPr>
              <a:t>•  12–18 months before the first rupee is disbursed.</a:t>
            </a:r>
          </a:p>
          <a:p>
            <a:pPr>
              <a:lnSpc>
                <a:spcPct val="115000"/>
              </a:lnSpc>
              <a:spcAft>
                <a:spcPts val="1000"/>
              </a:spcAft>
            </a:pPr>
            <a:r>
              <a:rPr sz="1250" b="0">
                <a:solidFill>
                  <a:srgbClr val="10151B"/>
                </a:solidFill>
                <a:latin typeface="Verdana"/>
              </a:rPr>
              <a:t>•  A permanent reconciliation tax between systems that each think they are the source of truth.</a:t>
            </a:r>
          </a:p>
          <a:p>
            <a:pPr>
              <a:lnSpc>
                <a:spcPct val="115000"/>
              </a:lnSpc>
              <a:spcAft>
                <a:spcPts val="1000"/>
              </a:spcAft>
            </a:pPr>
            <a:r>
              <a:rPr sz="1250" b="0">
                <a:solidFill>
                  <a:srgbClr val="10151B"/>
                </a:solidFill>
                <a:latin typeface="Verdana"/>
              </a:rPr>
              <a:t>•  A compliance story assembled after the fact from vendor exports.</a:t>
            </a:r>
          </a:p>
          <a:p>
            <a:pPr>
              <a:lnSpc>
                <a:spcPct val="115000"/>
              </a:lnSpc>
              <a:spcAft>
                <a:spcPts val="500"/>
              </a:spcAft>
            </a:pPr>
            <a:r>
              <a:rPr sz="1350" b="1">
                <a:solidFill>
                  <a:srgbClr val="0C2540"/>
                </a:solidFill>
                <a:latin typeface="Verdana"/>
              </a:rPr>
              <a:t>The alternative</a:t>
            </a:r>
          </a:p>
          <a:p>
            <a:pPr>
              <a:lnSpc>
                <a:spcPct val="115000"/>
              </a:lnSpc>
              <a:spcAft>
                <a:spcPts val="1000"/>
              </a:spcAft>
            </a:pPr>
            <a:r>
              <a:rPr sz="1250" b="0">
                <a:solidFill>
                  <a:srgbClr val="10151B"/>
                </a:solidFill>
                <a:latin typeface="Verdana"/>
              </a:rPr>
              <a:t>•  One aggregate, one status field, one append-only event log — origination through write-off. That is what DhanBoost is, and it is what the rest of this deck walks through.</a:t>
            </a:r>
          </a:p>
        </p:txBody>
      </p:sp>
      <p:pic>
        <p:nvPicPr>
          <p:cNvPr id="9" name="Picture 8"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WHAT WE DELIVERED</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DhanBoost, by the numbers</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Every figure below is countable in the repository — nothing here is a marketing estimate.</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1 aggregate</a:t>
            </a:r>
          </a:p>
          <a:p>
            <a:pPr>
              <a:lnSpc>
                <a:spcPct val="115000"/>
              </a:lnSpc>
              <a:spcAft>
                <a:spcPts val="0"/>
              </a:spcAft>
            </a:pPr>
            <a:r>
              <a:rPr sz="1050" b="0">
                <a:solidFill>
                  <a:srgbClr val="5B6B7C"/>
                </a:solidFill>
                <a:latin typeface="Verdana"/>
              </a:rPr>
              <a:t>One loan_application row walks the whole lifecycle. No stage-skipping.</a:t>
            </a:r>
          </a:p>
        </p:txBody>
      </p:sp>
      <p:sp>
        <p:nvSpPr>
          <p:cNvPr id="9" name="Rounded Rectangle 8"/>
          <p:cNvSpPr/>
          <p:nvPr/>
        </p:nvSpPr>
        <p:spPr>
          <a:xfrm>
            <a:off x="344568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027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9 roles</a:t>
            </a:r>
          </a:p>
          <a:p>
            <a:pPr>
              <a:lnSpc>
                <a:spcPct val="115000"/>
              </a:lnSpc>
              <a:spcAft>
                <a:spcPts val="0"/>
              </a:spcAft>
            </a:pPr>
            <a:r>
              <a:rPr sz="1050" b="0">
                <a:solidFill>
                  <a:srgbClr val="5B6B7C"/>
                </a:solidFill>
                <a:latin typeface="Verdana"/>
              </a:rPr>
              <a:t>KYC, credit exec/head, disbursement, accounting, collections x2, admin, developer.</a:t>
            </a:r>
          </a:p>
        </p:txBody>
      </p:sp>
      <p:sp>
        <p:nvSpPr>
          <p:cNvPr id="11" name="Rounded Rectangle 10"/>
          <p:cNvSpPr/>
          <p:nvPr/>
        </p:nvSpPr>
        <p:spPr>
          <a:xfrm>
            <a:off x="623300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8 checks</a:t>
            </a:r>
          </a:p>
          <a:p>
            <a:pPr>
              <a:lnSpc>
                <a:spcPct val="115000"/>
              </a:lnSpc>
              <a:spcAft>
                <a:spcPts val="0"/>
              </a:spcAft>
            </a:pPr>
            <a:r>
              <a:rPr sz="1050" b="0">
                <a:solidFill>
                  <a:srgbClr val="5B6B7C"/>
                </a:solidFill>
                <a:latin typeface="Verdana"/>
              </a:rPr>
              <a:t>PAN · email · address · Aadhaar · bureau · salary · penny-drop · selfie — all mandatory.</a:t>
            </a:r>
          </a:p>
        </p:txBody>
      </p:sp>
      <p:sp>
        <p:nvSpPr>
          <p:cNvPr id="13" name="Rounded Rectangle 12"/>
          <p:cNvSpPr/>
          <p:nvPr/>
        </p:nvSpPr>
        <p:spPr>
          <a:xfrm>
            <a:off x="902032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491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40 migrations</a:t>
            </a:r>
          </a:p>
          <a:p>
            <a:pPr>
              <a:lnSpc>
                <a:spcPct val="115000"/>
              </a:lnSpc>
              <a:spcAft>
                <a:spcPts val="0"/>
              </a:spcAft>
            </a:pPr>
            <a:r>
              <a:rPr sz="1050" b="0">
                <a:solidFill>
                  <a:srgbClr val="5B6B7C"/>
                </a:solidFill>
                <a:latin typeface="Verdana"/>
              </a:rPr>
              <a:t>Versioned Flyway schema, applied on every boot. No manual DDL.</a:t>
            </a:r>
          </a:p>
        </p:txBody>
      </p:sp>
      <p:sp>
        <p:nvSpPr>
          <p:cNvPr id="15" name="Rounded Rectangle 14"/>
          <p:cNvSpPr/>
          <p:nvPr/>
        </p:nvSpPr>
        <p:spPr>
          <a:xfrm>
            <a:off x="658368"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51 test classes</a:t>
            </a:r>
          </a:p>
          <a:p>
            <a:pPr>
              <a:lnSpc>
                <a:spcPct val="115000"/>
              </a:lnSpc>
              <a:spcAft>
                <a:spcPts val="0"/>
              </a:spcAft>
            </a:pPr>
            <a:r>
              <a:rPr sz="1050" b="0">
                <a:solidFill>
                  <a:srgbClr val="5B6B7C"/>
                </a:solidFill>
                <a:latin typeface="Verdana"/>
              </a:rPr>
              <a:t>380+ backend test methods, plus a Testcontainers integration suite.</a:t>
            </a:r>
          </a:p>
        </p:txBody>
      </p:sp>
      <p:sp>
        <p:nvSpPr>
          <p:cNvPr id="17" name="Rounded Rectangle 16"/>
          <p:cNvSpPr/>
          <p:nvPr/>
        </p:nvSpPr>
        <p:spPr>
          <a:xfrm>
            <a:off x="344568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027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7 e2e specs</a:t>
            </a:r>
          </a:p>
          <a:p>
            <a:pPr>
              <a:lnSpc>
                <a:spcPct val="115000"/>
              </a:lnSpc>
              <a:spcAft>
                <a:spcPts val="0"/>
              </a:spcAft>
            </a:pPr>
            <a:r>
              <a:rPr sz="1050" b="0">
                <a:solidFill>
                  <a:srgbClr val="5B6B7C"/>
                </a:solidFill>
                <a:latin typeface="Verdana"/>
              </a:rPr>
              <a:t>Playwright: auth, RBAC, onboarding, repay, staff console, admin.</a:t>
            </a:r>
          </a:p>
        </p:txBody>
      </p:sp>
      <p:sp>
        <p:nvSpPr>
          <p:cNvPr id="19" name="Rounded Rectangle 18"/>
          <p:cNvSpPr/>
          <p:nvPr/>
        </p:nvSpPr>
        <p:spPr>
          <a:xfrm>
            <a:off x="623300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Live on AWS</a:t>
            </a:r>
          </a:p>
          <a:p>
            <a:pPr>
              <a:lnSpc>
                <a:spcPct val="115000"/>
              </a:lnSpc>
              <a:spcAft>
                <a:spcPts val="0"/>
              </a:spcAft>
            </a:pPr>
            <a:r>
              <a:rPr sz="1050" b="0">
                <a:solidFill>
                  <a:srgbClr val="5B6B7C"/>
                </a:solidFill>
                <a:latin typeface="Verdana"/>
              </a:rPr>
              <a:t>Vercel » ALB » ECS Fargate » RDS/S3/SSM. Documented redeploy runbook.</a:t>
            </a:r>
          </a:p>
        </p:txBody>
      </p:sp>
      <p:sp>
        <p:nvSpPr>
          <p:cNvPr id="21" name="Rounded Rectangle 20"/>
          <p:cNvSpPr/>
          <p:nvPr/>
        </p:nvSpPr>
        <p:spPr>
          <a:xfrm>
            <a:off x="902032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491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49 seeded apps</a:t>
            </a:r>
          </a:p>
          <a:p>
            <a:pPr>
              <a:lnSpc>
                <a:spcPct val="115000"/>
              </a:lnSpc>
              <a:spcAft>
                <a:spcPts val="0"/>
              </a:spcAft>
            </a:pPr>
            <a:r>
              <a:rPr sz="1050" b="0">
                <a:solidFill>
                  <a:srgbClr val="5B6B7C"/>
                </a:solidFill>
                <a:latin typeface="Verdana"/>
              </a:rPr>
              <a:t>A one-command demo environment at every lifecycle stage, shipped with it.</a:t>
            </a:r>
          </a:p>
        </p:txBody>
      </p:sp>
      <p:sp>
        <p:nvSpPr>
          <p:cNvPr id="23" name="TextBox 22"/>
          <p:cNvSpPr txBox="1"/>
          <p:nvPr/>
        </p:nvSpPr>
        <p:spPr>
          <a:xfrm>
            <a:off x="658368" y="5340096"/>
            <a:ext cx="10874959" cy="1335024"/>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Built by SoftSolutionsAI. The same spine is the starting point for your platform — the walkthrough that follows is what you would be buying, screen by screen.</a:t>
            </a:r>
          </a:p>
        </p:txBody>
      </p:sp>
      <p:pic>
        <p:nvPicPr>
          <p:cNvPr id="24" name="Picture 23"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THE PRODUCT</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One product rule set, priced the same for everyone</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A salaried borrower draws a short advance, pays the fee upfront, and repays once on salary day.</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56816"/>
          <a:ext cx="10874958" cy="2798064"/>
        </p:xfrm>
        <a:graphic>
          <a:graphicData uri="http://schemas.openxmlformats.org/drawingml/2006/table">
            <a:tbl>
              <a:tblPr firstRow="1" bandRow="1">
                <a:tableStyleId>{5C22544A-7EE6-4342-B048-85BDC9FD1C3A}</a:tableStyleId>
              </a:tblPr>
              <a:tblGrid>
                <a:gridCol w="2609990"/>
                <a:gridCol w="3044988"/>
                <a:gridCol w="5219980"/>
              </a:tblGrid>
              <a:tr h="310896">
                <a:tc>
                  <a:txBody>
                    <a:bodyPr/>
                    <a:lstStyle/>
                    <a:p>
                      <a:r>
                        <a:rPr sz="1100" b="1">
                          <a:solidFill>
                            <a:srgbClr val="FFFFFF"/>
                          </a:solidFill>
                          <a:latin typeface="Verdana"/>
                        </a:rPr>
                        <a:t>Rule</a:t>
                      </a:r>
                    </a:p>
                  </a:txBody>
                  <a:tcPr marL="82296" marR="82296" marT="27432" marB="27432">
                    <a:solidFill>
                      <a:srgbClr val="0C2540"/>
                    </a:solidFill>
                  </a:tcPr>
                </a:tc>
                <a:tc>
                  <a:txBody>
                    <a:bodyPr/>
                    <a:lstStyle/>
                    <a:p>
                      <a:r>
                        <a:rPr sz="1100" b="1">
                          <a:solidFill>
                            <a:srgbClr val="FFFFFF"/>
                          </a:solidFill>
                          <a:latin typeface="Verdana"/>
                        </a:rPr>
                        <a:t>Value</a:t>
                      </a:r>
                    </a:p>
                  </a:txBody>
                  <a:tcPr marL="82296" marR="82296" marT="27432" marB="27432">
                    <a:solidFill>
                      <a:srgbClr val="0C2540"/>
                    </a:solidFill>
                  </a:tcPr>
                </a:tc>
                <a:tc>
                  <a:txBody>
                    <a:bodyPr/>
                    <a:lstStyle/>
                    <a:p>
                      <a:r>
                        <a:rPr sz="1100" b="1">
                          <a:solidFill>
                            <a:srgbClr val="FFFFFF"/>
                          </a:solidFill>
                          <a:latin typeface="Verdana"/>
                        </a:rPr>
                        <a:t>Why it is built this way</a:t>
                      </a:r>
                    </a:p>
                  </a:txBody>
                  <a:tcPr marL="82296" marR="82296" marT="27432" marB="27432">
                    <a:solidFill>
                      <a:srgbClr val="0C2540"/>
                    </a:solidFill>
                  </a:tcPr>
                </a:tc>
              </a:tr>
              <a:tr h="310896">
                <a:tc>
                  <a:txBody>
                    <a:bodyPr/>
                    <a:lstStyle/>
                    <a:p>
                      <a:r>
                        <a:rPr sz="1100" b="0">
                          <a:solidFill>
                            <a:srgbClr val="10151B"/>
                          </a:solidFill>
                          <a:latin typeface="Verdana"/>
                        </a:rPr>
                        <a:t>Eligible limit</a:t>
                      </a:r>
                    </a:p>
                  </a:txBody>
                  <a:tcPr marL="82296" marR="82296" marT="27432" marB="27432">
                    <a:solidFill>
                      <a:srgbClr val="FFFFFF"/>
                    </a:solidFill>
                  </a:tcPr>
                </a:tc>
                <a:tc>
                  <a:txBody>
                    <a:bodyPr/>
                    <a:lstStyle/>
                    <a:p>
                      <a:r>
                        <a:rPr sz="1100" b="0">
                          <a:solidFill>
                            <a:srgbClr val="10151B"/>
                          </a:solidFill>
                          <a:latin typeface="Verdana"/>
                        </a:rPr>
                        <a:t>25% of monthly salary, floored to ₹100</a:t>
                      </a:r>
                    </a:p>
                  </a:txBody>
                  <a:tcPr marL="82296" marR="82296" marT="27432" marB="27432">
                    <a:solidFill>
                      <a:srgbClr val="FFFFFF"/>
                    </a:solidFill>
                  </a:tcPr>
                </a:tc>
                <a:tc>
                  <a:txBody>
                    <a:bodyPr/>
                    <a:lstStyle/>
                    <a:p>
                      <a:r>
                        <a:rPr sz="1100" b="0">
                          <a:solidFill>
                            <a:srgbClr val="10151B"/>
                          </a:solidFill>
                          <a:latin typeface="Verdana"/>
                        </a:rPr>
                        <a:t>Affordability is derived from verified salary, not self-declared.</a:t>
                      </a:r>
                    </a:p>
                  </a:txBody>
                  <a:tcPr marL="82296" marR="82296" marT="27432" marB="27432">
                    <a:solidFill>
                      <a:srgbClr val="FFFFFF"/>
                    </a:solidFill>
                  </a:tcPr>
                </a:tc>
              </a:tr>
              <a:tr h="310896">
                <a:tc>
                  <a:txBody>
                    <a:bodyPr/>
                    <a:lstStyle/>
                    <a:p>
                      <a:r>
                        <a:rPr sz="1100" b="0">
                          <a:solidFill>
                            <a:srgbClr val="10151B"/>
                          </a:solidFill>
                          <a:latin typeface="Verdana"/>
                        </a:rPr>
                        <a:t>Minimum loan</a:t>
                      </a:r>
                    </a:p>
                  </a:txBody>
                  <a:tcPr marL="82296" marR="82296" marT="27432" marB="27432">
                    <a:solidFill>
                      <a:srgbClr val="FFFFFF"/>
                    </a:solidFill>
                  </a:tcPr>
                </a:tc>
                <a:tc>
                  <a:txBody>
                    <a:bodyPr/>
                    <a:lstStyle/>
                    <a:p>
                      <a:r>
                        <a:rPr sz="1100" b="0">
                          <a:solidFill>
                            <a:srgbClr val="10151B"/>
                          </a:solidFill>
                          <a:latin typeface="Verdana"/>
                        </a:rPr>
                        <a:t>₹1,000</a:t>
                      </a:r>
                    </a:p>
                  </a:txBody>
                  <a:tcPr marL="82296" marR="82296" marT="27432" marB="27432">
                    <a:solidFill>
                      <a:srgbClr val="FFFFFF"/>
                    </a:solidFill>
                  </a:tcPr>
                </a:tc>
                <a:tc>
                  <a:txBody>
                    <a:bodyPr/>
                    <a:lstStyle/>
                    <a:p>
                      <a:r>
                        <a:rPr sz="1100" b="0">
                          <a:solidFill>
                            <a:srgbClr val="10151B"/>
                          </a:solidFill>
                          <a:latin typeface="Verdana"/>
                        </a:rPr>
                        <a:t>Below this the unit economics don't clear the verification cost.</a:t>
                      </a:r>
                    </a:p>
                  </a:txBody>
                  <a:tcPr marL="82296" marR="82296" marT="27432" marB="27432">
                    <a:solidFill>
                      <a:srgbClr val="FFFFFF"/>
                    </a:solidFill>
                  </a:tcPr>
                </a:tc>
              </a:tr>
              <a:tr h="310896">
                <a:tc>
                  <a:txBody>
                    <a:bodyPr/>
                    <a:lstStyle/>
                    <a:p>
                      <a:r>
                        <a:rPr sz="1100" b="0">
                          <a:solidFill>
                            <a:srgbClr val="10151B"/>
                          </a:solidFill>
                          <a:latin typeface="Verdana"/>
                        </a:rPr>
                        <a:t>Processing fee</a:t>
                      </a:r>
                    </a:p>
                  </a:txBody>
                  <a:tcPr marL="82296" marR="82296" marT="27432" marB="27432">
                    <a:solidFill>
                      <a:srgbClr val="FFFFFF"/>
                    </a:solidFill>
                  </a:tcPr>
                </a:tc>
                <a:tc>
                  <a:txBody>
                    <a:bodyPr/>
                    <a:lstStyle/>
                    <a:p>
                      <a:r>
                        <a:rPr sz="1100" b="0">
                          <a:solidFill>
                            <a:srgbClr val="10151B"/>
                          </a:solidFill>
                          <a:latin typeface="Verdana"/>
                        </a:rPr>
                        <a:t>10% of principal, upfront</a:t>
                      </a:r>
                    </a:p>
                  </a:txBody>
                  <a:tcPr marL="82296" marR="82296" marT="27432" marB="27432">
                    <a:solidFill>
                      <a:srgbClr val="FFFFFF"/>
                    </a:solidFill>
                  </a:tcPr>
                </a:tc>
                <a:tc>
                  <a:txBody>
                    <a:bodyPr/>
                    <a:lstStyle/>
                    <a:p>
                      <a:r>
                        <a:rPr sz="1100" b="0">
                          <a:solidFill>
                            <a:srgbClr val="10151B"/>
                          </a:solidFill>
                          <a:latin typeface="Verdana"/>
                        </a:rPr>
                        <a:t>Deducted from disbursal — the borrower never owes it later.</a:t>
                      </a:r>
                    </a:p>
                  </a:txBody>
                  <a:tcPr marL="82296" marR="82296" marT="27432" marB="27432">
                    <a:solidFill>
                      <a:srgbClr val="FFFFFF"/>
                    </a:solidFill>
                  </a:tcPr>
                </a:tc>
              </a:tr>
              <a:tr h="310896">
                <a:tc>
                  <a:txBody>
                    <a:bodyPr/>
                    <a:lstStyle/>
                    <a:p>
                      <a:r>
                        <a:rPr sz="1100" b="0">
                          <a:solidFill>
                            <a:srgbClr val="10151B"/>
                          </a:solidFill>
                          <a:latin typeface="Verdana"/>
                        </a:rPr>
                        <a:t>GST</a:t>
                      </a:r>
                    </a:p>
                  </a:txBody>
                  <a:tcPr marL="82296" marR="82296" marT="27432" marB="27432">
                    <a:solidFill>
                      <a:srgbClr val="FFFFFF"/>
                    </a:solidFill>
                  </a:tcPr>
                </a:tc>
                <a:tc>
                  <a:txBody>
                    <a:bodyPr/>
                    <a:lstStyle/>
                    <a:p>
                      <a:r>
                        <a:rPr sz="1100" b="0">
                          <a:solidFill>
                            <a:srgbClr val="10151B"/>
                          </a:solidFill>
                          <a:latin typeface="Verdana"/>
                        </a:rPr>
                        <a:t>18% on the fee, upfront</a:t>
                      </a:r>
                    </a:p>
                  </a:txBody>
                  <a:tcPr marL="82296" marR="82296" marT="27432" marB="27432">
                    <a:solidFill>
                      <a:srgbClr val="FFFFFF"/>
                    </a:solidFill>
                  </a:tcPr>
                </a:tc>
                <a:tc>
                  <a:txBody>
                    <a:bodyPr/>
                    <a:lstStyle/>
                    <a:p>
                      <a:r>
                        <a:rPr sz="1100" b="0">
                          <a:solidFill>
                            <a:srgbClr val="10151B"/>
                          </a:solidFill>
                          <a:latin typeface="Verdana"/>
                        </a:rPr>
                        <a:t>Collected and shown separately on every quote.</a:t>
                      </a:r>
                    </a:p>
                  </a:txBody>
                  <a:tcPr marL="82296" marR="82296" marT="27432" marB="27432">
                    <a:solidFill>
                      <a:srgbClr val="FFFFFF"/>
                    </a:solidFill>
                  </a:tcPr>
                </a:tc>
              </a:tr>
              <a:tr h="310896">
                <a:tc>
                  <a:txBody>
                    <a:bodyPr/>
                    <a:lstStyle/>
                    <a:p>
                      <a:r>
                        <a:rPr sz="1100" b="0">
                          <a:solidFill>
                            <a:srgbClr val="10151B"/>
                          </a:solidFill>
                          <a:latin typeface="Verdana"/>
                        </a:rPr>
                        <a:t>Interest</a:t>
                      </a:r>
                    </a:p>
                  </a:txBody>
                  <a:tcPr marL="82296" marR="82296" marT="27432" marB="27432">
                    <a:solidFill>
                      <a:srgbClr val="FFFFFF"/>
                    </a:solidFill>
                  </a:tcPr>
                </a:tc>
                <a:tc>
                  <a:txBody>
                    <a:bodyPr/>
                    <a:lstStyle/>
                    <a:p>
                      <a:r>
                        <a:rPr sz="1100" b="0">
                          <a:solidFill>
                            <a:srgbClr val="10151B"/>
                          </a:solidFill>
                          <a:latin typeface="Verdana"/>
                        </a:rPr>
                        <a:t>1% per day, over actual tenure</a:t>
                      </a:r>
                    </a:p>
                  </a:txBody>
                  <a:tcPr marL="82296" marR="82296" marT="27432" marB="27432">
                    <a:solidFill>
                      <a:srgbClr val="FFFFFF"/>
                    </a:solidFill>
                  </a:tcPr>
                </a:tc>
                <a:tc>
                  <a:txBody>
                    <a:bodyPr/>
                    <a:lstStyle/>
                    <a:p>
                      <a:r>
                        <a:rPr sz="1100" b="0">
                          <a:solidFill>
                            <a:srgbClr val="10151B"/>
                          </a:solidFill>
                          <a:latin typeface="Verdana"/>
                        </a:rPr>
                        <a:t>Prepay early and you pay interest only to the day you pay.</a:t>
                      </a:r>
                    </a:p>
                  </a:txBody>
                  <a:tcPr marL="82296" marR="82296" marT="27432" marB="27432">
                    <a:solidFill>
                      <a:srgbClr val="FFFFFF"/>
                    </a:solidFill>
                  </a:tcPr>
                </a:tc>
              </a:tr>
              <a:tr h="310896">
                <a:tc>
                  <a:txBody>
                    <a:bodyPr/>
                    <a:lstStyle/>
                    <a:p>
                      <a:r>
                        <a:rPr sz="1100" b="0">
                          <a:solidFill>
                            <a:srgbClr val="10151B"/>
                          </a:solidFill>
                          <a:latin typeface="Verdana"/>
                        </a:rPr>
                        <a:t>Due date</a:t>
                      </a:r>
                    </a:p>
                  </a:txBody>
                  <a:tcPr marL="82296" marR="82296" marT="27432" marB="27432">
                    <a:solidFill>
                      <a:srgbClr val="FFFFFF"/>
                    </a:solidFill>
                  </a:tcPr>
                </a:tc>
                <a:tc>
                  <a:txBody>
                    <a:bodyPr/>
                    <a:lstStyle/>
                    <a:p>
                      <a:r>
                        <a:rPr sz="1100" b="0">
                          <a:solidFill>
                            <a:srgbClr val="10151B"/>
                          </a:solidFill>
                          <a:latin typeface="Verdana"/>
                        </a:rPr>
                        <a:t>Next salary credit, within 40 days</a:t>
                      </a:r>
                    </a:p>
                  </a:txBody>
                  <a:tcPr marL="82296" marR="82296" marT="27432" marB="27432">
                    <a:solidFill>
                      <a:srgbClr val="FFFFFF"/>
                    </a:solidFill>
                  </a:tcPr>
                </a:tc>
                <a:tc>
                  <a:txBody>
                    <a:bodyPr/>
                    <a:lstStyle/>
                    <a:p>
                      <a:r>
                        <a:rPr sz="1100" b="0">
                          <a:solidFill>
                            <a:srgbClr val="10151B"/>
                          </a:solidFill>
                          <a:latin typeface="Verdana"/>
                        </a:rPr>
                        <a:t>Repayment lands when money does. This is the core risk control.</a:t>
                      </a:r>
                    </a:p>
                  </a:txBody>
                  <a:tcPr marL="82296" marR="82296" marT="27432" marB="27432">
                    <a:solidFill>
                      <a:srgbClr val="FFFFFF"/>
                    </a:solidFill>
                  </a:tcPr>
                </a:tc>
              </a:tr>
              <a:tr h="310896">
                <a:tc>
                  <a:txBody>
                    <a:bodyPr/>
                    <a:lstStyle/>
                    <a:p>
                      <a:r>
                        <a:rPr sz="1100" b="0">
                          <a:solidFill>
                            <a:srgbClr val="10151B"/>
                          </a:solidFill>
                          <a:latin typeface="Verdana"/>
                        </a:rPr>
                        <a:t>Late penalty</a:t>
                      </a:r>
                    </a:p>
                  </a:txBody>
                  <a:tcPr marL="82296" marR="82296" marT="27432" marB="27432">
                    <a:solidFill>
                      <a:srgbClr val="FFFFFF"/>
                    </a:solidFill>
                  </a:tcPr>
                </a:tc>
                <a:tc>
                  <a:txBody>
                    <a:bodyPr/>
                    <a:lstStyle/>
                    <a:p>
                      <a:r>
                        <a:rPr sz="1100" b="0">
                          <a:solidFill>
                            <a:srgbClr val="10151B"/>
                          </a:solidFill>
                          <a:latin typeface="Verdana"/>
                        </a:rPr>
                        <a:t>2% per day, capped at 30 days</a:t>
                      </a:r>
                    </a:p>
                  </a:txBody>
                  <a:tcPr marL="82296" marR="82296" marT="27432" marB="27432">
                    <a:solidFill>
                      <a:srgbClr val="FFFFFF"/>
                    </a:solidFill>
                  </a:tcPr>
                </a:tc>
                <a:tc>
                  <a:txBody>
                    <a:bodyPr/>
                    <a:lstStyle/>
                    <a:p>
                      <a:r>
                        <a:rPr sz="1100" b="0">
                          <a:solidFill>
                            <a:srgbClr val="10151B"/>
                          </a:solidFill>
                          <a:latin typeface="Verdana"/>
                        </a:rPr>
                        <a:t>The cap is hard-coded — the balance cannot run away.</a:t>
                      </a:r>
                    </a:p>
                  </a:txBody>
                  <a:tcPr marL="82296" marR="82296" marT="27432" marB="27432">
                    <a:solidFill>
                      <a:srgbClr val="FFFFFF"/>
                    </a:solidFill>
                  </a:tcPr>
                </a:tc>
              </a:tr>
              <a:tr h="310896">
                <a:tc>
                  <a:txBody>
                    <a:bodyPr/>
                    <a:lstStyle/>
                    <a:p>
                      <a:r>
                        <a:rPr sz="1100" b="0">
                          <a:solidFill>
                            <a:srgbClr val="10151B"/>
                          </a:solidFill>
                          <a:latin typeface="Verdana"/>
                        </a:rPr>
                        <a:t>Repayment</a:t>
                      </a:r>
                    </a:p>
                  </a:txBody>
                  <a:tcPr marL="82296" marR="82296" marT="27432" marB="27432">
                    <a:solidFill>
                      <a:srgbClr val="FFFFFF"/>
                    </a:solidFill>
                  </a:tcPr>
                </a:tc>
                <a:tc>
                  <a:txBody>
                    <a:bodyPr/>
                    <a:lstStyle/>
                    <a:p>
                      <a:r>
                        <a:rPr sz="1100" b="0">
                          <a:solidFill>
                            <a:srgbClr val="10151B"/>
                          </a:solidFill>
                          <a:latin typeface="Verdana"/>
                        </a:rPr>
                        <a:t>One single instalment</a:t>
                      </a:r>
                    </a:p>
                  </a:txBody>
                  <a:tcPr marL="82296" marR="82296" marT="27432" marB="27432">
                    <a:solidFill>
                      <a:srgbClr val="FFFFFF"/>
                    </a:solidFill>
                  </a:tcPr>
                </a:tc>
                <a:tc>
                  <a:txBody>
                    <a:bodyPr/>
                    <a:lstStyle/>
                    <a:p>
                      <a:r>
                        <a:rPr sz="1100" b="0">
                          <a:solidFill>
                            <a:srgbClr val="10151B"/>
                          </a:solidFill>
                          <a:latin typeface="Verdana"/>
                        </a:rPr>
                        <a:t>No EMI schedule to service, dispute or reconcile.</a:t>
                      </a:r>
                    </a:p>
                  </a:txBody>
                  <a:tcPr marL="82296" marR="82296" marT="27432" marB="27432">
                    <a:solidFill>
                      <a:srgbClr val="FFFFFF"/>
                    </a:solidFill>
                  </a:tcPr>
                </a:tc>
              </a:tr>
            </a:tbl>
          </a:graphicData>
        </a:graphic>
      </p:graphicFrame>
      <p:sp>
        <p:nvSpPr>
          <p:cNvPr id="8" name="TextBox 7"/>
          <p:cNvSpPr txBox="1"/>
          <p:nvPr/>
        </p:nvSpPr>
        <p:spPr>
          <a:xfrm>
            <a:off x="658368" y="4919472"/>
            <a:ext cx="10874959" cy="1755648"/>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Worked example — ₹10,000 principal: fee ₹1,000 + GST ₹180 » borrower receives ₹8,820. Disbursed 3 June, salary day 30 » due 30 June (27 days) » repays ₹12,700. All money is integer paise, HALF_UP. Risk bands A/B/C/D change the limit and the checks, never the price.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Nine verified steps, then money</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Every step is a real provider call, stored with its provider reference. None of it is a form that says 'verified'.</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5681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5740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PAN</a:t>
            </a:r>
          </a:p>
          <a:p>
            <a:pPr>
              <a:lnSpc>
                <a:spcPct val="115000"/>
              </a:lnSpc>
              <a:spcAft>
                <a:spcPts val="0"/>
              </a:spcAft>
            </a:pPr>
            <a:r>
              <a:rPr sz="950" b="0">
                <a:solidFill>
                  <a:srgbClr val="5B6B7C"/>
                </a:solidFill>
                <a:latin typeface="Verdana"/>
              </a:rPr>
              <a:t>Compliance search</a:t>
            </a:r>
          </a:p>
        </p:txBody>
      </p:sp>
      <p:sp>
        <p:nvSpPr>
          <p:cNvPr id="9" name="Right Arrow 8"/>
          <p:cNvSpPr/>
          <p:nvPr/>
        </p:nvSpPr>
        <p:spPr>
          <a:xfrm>
            <a:off x="2630363" y="233172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95539" y="195681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5267" y="205740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Email</a:t>
            </a:r>
          </a:p>
          <a:p>
            <a:pPr>
              <a:lnSpc>
                <a:spcPct val="115000"/>
              </a:lnSpc>
              <a:spcAft>
                <a:spcPts val="0"/>
              </a:spcAft>
            </a:pPr>
            <a:r>
              <a:rPr sz="950" b="0">
                <a:solidFill>
                  <a:srgbClr val="5B6B7C"/>
                </a:solidFill>
                <a:latin typeface="Verdana"/>
              </a:rPr>
              <a:t>Deliverability</a:t>
            </a:r>
          </a:p>
        </p:txBody>
      </p:sp>
      <p:sp>
        <p:nvSpPr>
          <p:cNvPr id="12" name="Right Arrow 11"/>
          <p:cNvSpPr/>
          <p:nvPr/>
        </p:nvSpPr>
        <p:spPr>
          <a:xfrm>
            <a:off x="4867534" y="233172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32710" y="195681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2438" y="205740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Address</a:t>
            </a:r>
          </a:p>
          <a:p>
            <a:pPr>
              <a:lnSpc>
                <a:spcPct val="115000"/>
              </a:lnSpc>
              <a:spcAft>
                <a:spcPts val="0"/>
              </a:spcAft>
            </a:pPr>
            <a:r>
              <a:rPr sz="950" b="0">
                <a:solidFill>
                  <a:srgbClr val="5B6B7C"/>
                </a:solidFill>
                <a:latin typeface="Verdana"/>
              </a:rPr>
              <a:t>Verification API</a:t>
            </a:r>
          </a:p>
        </p:txBody>
      </p:sp>
      <p:sp>
        <p:nvSpPr>
          <p:cNvPr id="15" name="Right Arrow 14"/>
          <p:cNvSpPr/>
          <p:nvPr/>
        </p:nvSpPr>
        <p:spPr>
          <a:xfrm>
            <a:off x="7104705" y="233172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69881" y="195681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609" y="205740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DigiLocker</a:t>
            </a:r>
          </a:p>
          <a:p>
            <a:pPr>
              <a:lnSpc>
                <a:spcPct val="115000"/>
              </a:lnSpc>
              <a:spcAft>
                <a:spcPts val="0"/>
              </a:spcAft>
            </a:pPr>
            <a:r>
              <a:rPr sz="950" b="0">
                <a:solidFill>
                  <a:srgbClr val="5B6B7C"/>
                </a:solidFill>
                <a:latin typeface="Verdana"/>
              </a:rPr>
              <a:t>Aadhaar, with consent</a:t>
            </a:r>
          </a:p>
        </p:txBody>
      </p:sp>
      <p:sp>
        <p:nvSpPr>
          <p:cNvPr id="18" name="Right Arrow 17"/>
          <p:cNvSpPr/>
          <p:nvPr/>
        </p:nvSpPr>
        <p:spPr>
          <a:xfrm>
            <a:off x="9341876" y="233172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7052" y="195681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6780" y="205740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Bureau</a:t>
            </a:r>
          </a:p>
          <a:p>
            <a:pPr>
              <a:lnSpc>
                <a:spcPct val="115000"/>
              </a:lnSpc>
              <a:spcAft>
                <a:spcPts val="0"/>
              </a:spcAft>
            </a:pPr>
            <a:r>
              <a:rPr sz="950" b="0">
                <a:solidFill>
                  <a:srgbClr val="5B6B7C"/>
                </a:solidFill>
                <a:latin typeface="Verdana"/>
              </a:rPr>
              <a:t>Experian / CRIF</a:t>
            </a:r>
          </a:p>
        </p:txBody>
      </p:sp>
      <p:sp>
        <p:nvSpPr>
          <p:cNvPr id="21" name="Rounded Rectangle 20"/>
          <p:cNvSpPr/>
          <p:nvPr/>
        </p:nvSpPr>
        <p:spPr>
          <a:xfrm>
            <a:off x="658368" y="341985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52044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Salary</a:t>
            </a:r>
          </a:p>
          <a:p>
            <a:pPr>
              <a:lnSpc>
                <a:spcPct val="115000"/>
              </a:lnSpc>
              <a:spcAft>
                <a:spcPts val="0"/>
              </a:spcAft>
            </a:pPr>
            <a:r>
              <a:rPr sz="950" b="0">
                <a:solidFill>
                  <a:srgbClr val="5B6B7C"/>
                </a:solidFill>
                <a:latin typeface="Verdana"/>
              </a:rPr>
              <a:t>Income check</a:t>
            </a:r>
          </a:p>
        </p:txBody>
      </p:sp>
      <p:sp>
        <p:nvSpPr>
          <p:cNvPr id="23" name="Right Arrow 22"/>
          <p:cNvSpPr/>
          <p:nvPr/>
        </p:nvSpPr>
        <p:spPr>
          <a:xfrm>
            <a:off x="2630363" y="379476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95539" y="341985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05267" y="352044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Penny-drop</a:t>
            </a:r>
          </a:p>
          <a:p>
            <a:pPr>
              <a:lnSpc>
                <a:spcPct val="115000"/>
              </a:lnSpc>
              <a:spcAft>
                <a:spcPts val="0"/>
              </a:spcAft>
            </a:pPr>
            <a:r>
              <a:rPr sz="950" b="0">
                <a:solidFill>
                  <a:srgbClr val="5B6B7C"/>
                </a:solidFill>
                <a:latin typeface="Verdana"/>
              </a:rPr>
              <a:t>Bank account owner</a:t>
            </a:r>
          </a:p>
        </p:txBody>
      </p:sp>
      <p:sp>
        <p:nvSpPr>
          <p:cNvPr id="26" name="Right Arrow 25"/>
          <p:cNvSpPr/>
          <p:nvPr/>
        </p:nvSpPr>
        <p:spPr>
          <a:xfrm>
            <a:off x="4867534" y="379476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32710" y="341985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42438" y="352044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Selfie</a:t>
            </a:r>
          </a:p>
          <a:p>
            <a:pPr>
              <a:lnSpc>
                <a:spcPct val="115000"/>
              </a:lnSpc>
              <a:spcAft>
                <a:spcPts val="0"/>
              </a:spcAft>
            </a:pPr>
            <a:r>
              <a:rPr sz="950" b="0">
                <a:solidFill>
                  <a:srgbClr val="5B6B7C"/>
                </a:solidFill>
                <a:latin typeface="Verdana"/>
              </a:rPr>
              <a:t>Liveness + face match</a:t>
            </a:r>
          </a:p>
        </p:txBody>
      </p:sp>
      <p:sp>
        <p:nvSpPr>
          <p:cNvPr id="29" name="Right Arrow 28"/>
          <p:cNvSpPr/>
          <p:nvPr/>
        </p:nvSpPr>
        <p:spPr>
          <a:xfrm>
            <a:off x="7104705" y="379476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9881" y="3419856"/>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9609" y="352044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Agreement</a:t>
            </a:r>
          </a:p>
          <a:p>
            <a:pPr>
              <a:lnSpc>
                <a:spcPct val="115000"/>
              </a:lnSpc>
              <a:spcAft>
                <a:spcPts val="0"/>
              </a:spcAft>
            </a:pPr>
            <a:r>
              <a:rPr sz="950" b="0">
                <a:solidFill>
                  <a:srgbClr val="5B6B7C"/>
                </a:solidFill>
                <a:latin typeface="Verdana"/>
              </a:rPr>
              <a:t>e-Signed, stored</a:t>
            </a:r>
          </a:p>
        </p:txBody>
      </p:sp>
      <p:sp>
        <p:nvSpPr>
          <p:cNvPr id="32" name="Right Arrow 31"/>
          <p:cNvSpPr/>
          <p:nvPr/>
        </p:nvSpPr>
        <p:spPr>
          <a:xfrm>
            <a:off x="9341876" y="3794760"/>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07052" y="3419856"/>
            <a:ext cx="1926275" cy="896112"/>
          </a:xfrm>
          <a:prstGeom prst="roundRect">
            <a:avLst>
              <a:gd name="adj" fmla="val 14000"/>
            </a:avLst>
          </a:prstGeom>
          <a:solidFill>
            <a:srgbClr val="E9B53A"/>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6780" y="3520440"/>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Limit issued</a:t>
            </a:r>
          </a:p>
          <a:p>
            <a:pPr>
              <a:lnSpc>
                <a:spcPct val="115000"/>
              </a:lnSpc>
              <a:spcAft>
                <a:spcPts val="0"/>
              </a:spcAft>
            </a:pPr>
            <a:r>
              <a:rPr sz="950" b="0">
                <a:solidFill>
                  <a:srgbClr val="0C2540"/>
                </a:solidFill>
                <a:latin typeface="Verdana"/>
              </a:rPr>
              <a:t>Apply, disburse, repay</a:t>
            </a:r>
          </a:p>
        </p:txBody>
      </p:sp>
      <p:sp>
        <p:nvSpPr>
          <p:cNvPr id="35" name="TextBox 34"/>
          <p:cNvSpPr txBox="1"/>
          <p:nvPr/>
        </p:nvSpPr>
        <p:spPr>
          <a:xfrm>
            <a:off x="658368" y="4974336"/>
            <a:ext cx="10874959" cy="1700784"/>
          </a:xfrm>
          <a:prstGeom prst="rect">
            <a:avLst/>
          </a:prstGeom>
          <a:noFill/>
        </p:spPr>
        <p:txBody>
          <a:bodyPr wrap="square" anchor="t" lIns="0" rIns="0" tIns="0" bIns="0">
            <a:spAutoFit/>
          </a:bodyPr>
          <a:lstStyle/>
          <a:p>
            <a:pPr>
              <a:lnSpc>
                <a:spcPct val="115000"/>
              </a:lnSpc>
              <a:spcAft>
                <a:spcPts val="0"/>
              </a:spcAft>
            </a:pPr>
            <a:r>
              <a:rPr sz="1150" b="0">
                <a:solidFill>
                  <a:srgbClr val="5B6B7C"/>
                </a:solidFill>
                <a:latin typeface="Verdana"/>
              </a:rPr>
              <a:t>The gate: submit-kyc is refused with KYC_INCOMPLETE until all eight checks clear. A borrower cannot talk their way into the credit queue, and staff cannot pull them in early.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  ·  1 OF 5</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Sign-up: mobile OTP, PAN, email, address</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Four steps, four real API calls, resumable if the borrower drops off.</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Sign-up wizard — mobile OTP » PAN » email » address</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OTP over a DLT-registered SMS template — the session is established at step one, so a drop-off resumes where it left off.</a:t>
            </a:r>
          </a:p>
          <a:p>
            <a:pPr>
              <a:lnSpc>
                <a:spcPct val="115000"/>
              </a:lnSpc>
              <a:spcAft>
                <a:spcPts val="900"/>
              </a:spcAft>
            </a:pPr>
            <a:r>
              <a:rPr sz="1200" b="0">
                <a:solidFill>
                  <a:srgbClr val="10151B"/>
                </a:solidFill>
                <a:latin typeface="Verdana"/>
              </a:rPr>
              <a:t>•  PAN runs a compliance search, not a checksum. The name that comes back is what the rest of the file is checked against.</a:t>
            </a:r>
          </a:p>
          <a:p>
            <a:pPr>
              <a:lnSpc>
                <a:spcPct val="115000"/>
              </a:lnSpc>
              <a:spcAft>
                <a:spcPts val="900"/>
              </a:spcAft>
            </a:pPr>
            <a:r>
              <a:rPr sz="1200" b="0">
                <a:solidFill>
                  <a:srgbClr val="10151B"/>
                </a:solidFill>
                <a:latin typeface="Verdana"/>
              </a:rPr>
              <a:t>•  Email is deliverability-verified, which is what makes the email channel safe to send to later.</a:t>
            </a:r>
          </a:p>
          <a:p>
            <a:pPr>
              <a:lnSpc>
                <a:spcPct val="115000"/>
              </a:lnSpc>
              <a:spcAft>
                <a:spcPts val="900"/>
              </a:spcAft>
            </a:pPr>
            <a:r>
              <a:rPr sz="1200" b="0">
                <a:solidFill>
                  <a:srgbClr val="10151B"/>
                </a:solidFill>
                <a:latin typeface="Verdana"/>
              </a:rPr>
              <a:t>•  Address is verified through a provider API — no manual data entry to reconcile.</a:t>
            </a:r>
          </a:p>
          <a:p>
            <a:pPr>
              <a:lnSpc>
                <a:spcPct val="115000"/>
              </a:lnSpc>
              <a:spcAft>
                <a:spcPts val="900"/>
              </a:spcAft>
            </a:pPr>
            <a:r>
              <a:rPr sz="1000" b="0">
                <a:solidFill>
                  <a:srgbClr val="5B6B7C"/>
                </a:solidFill>
                <a:latin typeface="Verdana"/>
              </a:rPr>
              <a:t>Each result is stored as its own verification row with the provider and its reference, so any check can be re-run or explained a year later.</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/signup/mobile-otp  ·  /signup/pan  ·  /signup/email  ·  /signup/address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  ·  2 OF 5</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Identity: Aadhaar via DigiLocker, then a liveness selfie</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This is the step most demos fake. Ours is a live provider journey, end to end.</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DigiLocker consent hand-off  +  liveness video capture</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DigiLocker: the borrower authorises in DigiLocker's own flow. We accept the Aadhaar only when the document's digital signature validates.</a:t>
            </a:r>
          </a:p>
          <a:p>
            <a:pPr>
              <a:lnSpc>
                <a:spcPct val="115000"/>
              </a:lnSpc>
              <a:spcAft>
                <a:spcPts val="900"/>
              </a:spcAft>
            </a:pPr>
            <a:r>
              <a:rPr sz="1200" b="0">
                <a:solidFill>
                  <a:srgbClr val="10151B"/>
                </a:solidFill>
                <a:latin typeface="Verdana"/>
              </a:rPr>
              <a:t>•  We pull the Aadhaar photo and store it — that photo becomes the reference image for the next step.</a:t>
            </a:r>
          </a:p>
          <a:p>
            <a:pPr>
              <a:lnSpc>
                <a:spcPct val="115000"/>
              </a:lnSpc>
              <a:spcAft>
                <a:spcPts val="900"/>
              </a:spcAft>
            </a:pPr>
            <a:r>
              <a:rPr sz="1200" b="0">
                <a:solidFill>
                  <a:srgbClr val="10151B"/>
                </a:solidFill>
                <a:latin typeface="Verdana"/>
              </a:rPr>
              <a:t>•  Selfie: an interactive passive-liveness video, face-matched 1:1 against the Aadhaar photo. Not an uploaded photo of a photo.</a:t>
            </a:r>
          </a:p>
          <a:p>
            <a:pPr>
              <a:lnSpc>
                <a:spcPct val="115000"/>
              </a:lnSpc>
              <a:spcAft>
                <a:spcPts val="900"/>
              </a:spcAft>
            </a:pPr>
            <a:r>
              <a:rPr sz="1200" b="0">
                <a:solidFill>
                  <a:srgbClr val="10151B"/>
                </a:solidFill>
                <a:latin typeface="Verdana"/>
              </a:rPr>
              <a:t>•  If the provider's liveness journey is unavailable, it degrades to a synchronous face-match fallback rather than blocking the borrower.</a:t>
            </a:r>
          </a:p>
          <a:p>
            <a:pPr>
              <a:lnSpc>
                <a:spcPct val="115000"/>
              </a:lnSpc>
              <a:spcAft>
                <a:spcPts val="900"/>
              </a:spcAft>
            </a:pPr>
            <a:r>
              <a:rPr sz="1000" b="0">
                <a:solidFill>
                  <a:srgbClr val="5B6B7C"/>
                </a:solidFill>
                <a:latin typeface="Verdana"/>
              </a:rPr>
              <a:t>Neither path ever hard-rejects. A human KYC approver makes the final call — with the machine's verdict in front of them.</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/signup/digilocker  »  /kyc/digilocker/callback  ·  /signup/selfie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  ·  3 OF 5</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Underwriting inputs: bureau, salary, penny-drop</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Where the limit comes from — and where the money is allowed to land.</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Bureau pull  ·  salary verification  ·  penny-drop bank check</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Bureau: a full report, not just a score. Balances, accounts and enquiries are parsed into structured facts.</a:t>
            </a:r>
          </a:p>
          <a:p>
            <a:pPr>
              <a:lnSpc>
                <a:spcPct val="115000"/>
              </a:lnSpc>
              <a:spcAft>
                <a:spcPts val="900"/>
              </a:spcAft>
            </a:pPr>
            <a:r>
              <a:rPr sz="1200" b="0">
                <a:solidFill>
                  <a:srgbClr val="10151B"/>
                </a:solidFill>
                <a:latin typeface="Verdana"/>
              </a:rPr>
              <a:t>•  Those facts produce a 1–5star recommendation and a one-page branded credit brief PDF for staff — never shown to the borrower.</a:t>
            </a:r>
          </a:p>
          <a:p>
            <a:pPr>
              <a:lnSpc>
                <a:spcPct val="115000"/>
              </a:lnSpc>
              <a:spcAft>
                <a:spcPts val="900"/>
              </a:spcAft>
            </a:pPr>
            <a:r>
              <a:rPr sz="1200" b="0">
                <a:solidFill>
                  <a:srgbClr val="10151B"/>
                </a:solidFill>
                <a:latin typeface="Verdana"/>
              </a:rPr>
              <a:t>•  Salary drives the eligible limit: 25% of verified monthly salary. Change the salary later and the limit recomputes, audited.</a:t>
            </a:r>
          </a:p>
          <a:p>
            <a:pPr>
              <a:lnSpc>
                <a:spcPct val="115000"/>
              </a:lnSpc>
              <a:spcAft>
                <a:spcPts val="900"/>
              </a:spcAft>
            </a:pPr>
            <a:r>
              <a:rPr sz="1200" b="0">
                <a:solidFill>
                  <a:srgbClr val="10151B"/>
                </a:solidFill>
                <a:latin typeface="Verdana"/>
              </a:rPr>
              <a:t>•  Penny-drop confirms the bank account belongs to this person before anything is disbursed into it.</a:t>
            </a:r>
          </a:p>
          <a:p>
            <a:pPr>
              <a:lnSpc>
                <a:spcPct val="115000"/>
              </a:lnSpc>
              <a:spcAft>
                <a:spcPts val="900"/>
              </a:spcAft>
            </a:pPr>
            <a:r>
              <a:rPr sz="1000" b="0">
                <a:solidFill>
                  <a:srgbClr val="5B6B7C"/>
                </a:solidFill>
                <a:latin typeface="Verdana"/>
              </a:rPr>
              <a:t>Two bureau providers are wired with automatic fallback, because a thin file at one bureau should not end the application.</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/signup/bureau  ·  /signup/salary  ·  /signup/penny-drop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  ·  4 OF 5</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The limit, the amount, the true cost — before committing</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The borrower states their salary date, picks an amount, and sees the exact due date and total.</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Amount chooser with live due date + cost breakdown</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Salary day is a single day-of-month field. The helper text previews the salary-linked due date using the same rule the backend will apply.</a:t>
            </a:r>
          </a:p>
          <a:p>
            <a:pPr>
              <a:lnSpc>
                <a:spcPct val="115000"/>
              </a:lnSpc>
              <a:spcAft>
                <a:spcPts val="900"/>
              </a:spcAft>
            </a:pPr>
            <a:r>
              <a:rPr sz="1200" b="0">
                <a:solidFill>
                  <a:srgbClr val="10151B"/>
                </a:solidFill>
                <a:latin typeface="Verdana"/>
              </a:rPr>
              <a:t>•  Move the amount and fee, GST, net disbursal and total repayable update live. No surprise deductions on disbursal day.</a:t>
            </a:r>
          </a:p>
          <a:p>
            <a:pPr>
              <a:lnSpc>
                <a:spcPct val="115000"/>
              </a:lnSpc>
              <a:spcAft>
                <a:spcPts val="900"/>
              </a:spcAft>
            </a:pPr>
            <a:r>
              <a:rPr sz="1200" b="0">
                <a:solidFill>
                  <a:srgbClr val="10151B"/>
                </a:solidFill>
                <a:latin typeface="Verdana"/>
              </a:rPr>
              <a:t>•  The amount is bounded server-side too: at least ₹1,000, never above the eligible limit.</a:t>
            </a:r>
          </a:p>
          <a:p>
            <a:pPr>
              <a:lnSpc>
                <a:spcPct val="115000"/>
              </a:lnSpc>
              <a:spcAft>
                <a:spcPts val="900"/>
              </a:spcAft>
            </a:pPr>
            <a:r>
              <a:rPr sz="1200" b="0">
                <a:solidFill>
                  <a:srgbClr val="10151B"/>
                </a:solidFill>
                <a:latin typeface="Verdana"/>
              </a:rPr>
              <a:t>•  Repeat borrowers never re-state their salary day — it carries over from the prior loan.</a:t>
            </a:r>
          </a:p>
          <a:p>
            <a:pPr>
              <a:lnSpc>
                <a:spcPct val="115000"/>
              </a:lnSpc>
              <a:spcAft>
                <a:spcPts val="900"/>
              </a:spcAft>
            </a:pPr>
            <a:r>
              <a:rPr sz="1000" b="0">
                <a:solidFill>
                  <a:srgbClr val="5B6B7C"/>
                </a:solidFill>
                <a:latin typeface="Verdana"/>
              </a:rPr>
              <a:t>The frontend math mirrors the backend engine exactly, so the quote the borrower agreed to is the quote the ledger books.</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/loan/apply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BORROWER JOURNEY  ·  5 OF 5</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Track, repay, borrow again</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The borrower sees their own audit trail, pays a prepayment-aware amount, and returns on a fast path.</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Live status trail  ·  repay screen  ·  borrow-again pre-approval</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Status is the real state machine, with the audit trail rendered — not a progress bar that guesses.</a:t>
            </a:r>
          </a:p>
          <a:p>
            <a:pPr>
              <a:lnSpc>
                <a:spcPct val="115000"/>
              </a:lnSpc>
              <a:spcAft>
                <a:spcPts val="900"/>
              </a:spcAft>
            </a:pPr>
            <a:r>
              <a:rPr sz="1200" b="0">
                <a:solidFill>
                  <a:srgbClr val="10151B"/>
                </a:solidFill>
                <a:latin typeface="Verdana"/>
              </a:rPr>
              <a:t>•  Repay shows 'pay today', interest charged only to the day of payment. Prepayment is a first-class case, not an exception.</a:t>
            </a:r>
          </a:p>
          <a:p>
            <a:pPr>
              <a:lnSpc>
                <a:spcPct val="115000"/>
              </a:lnSpc>
              <a:spcAft>
                <a:spcPts val="900"/>
              </a:spcAft>
            </a:pPr>
            <a:r>
              <a:rPr sz="1200" b="0">
                <a:solidFill>
                  <a:srgbClr val="10151B"/>
                </a:solidFill>
                <a:latin typeface="Verdana"/>
              </a:rPr>
              <a:t>•  The borrower records the payment; an accountant verifies it. The loan closes only when the penalty-aware balance actually reaches zero.</a:t>
            </a:r>
          </a:p>
          <a:p>
            <a:pPr>
              <a:lnSpc>
                <a:spcPct val="115000"/>
              </a:lnSpc>
              <a:spcAft>
                <a:spcPts val="900"/>
              </a:spcAft>
            </a:pPr>
            <a:r>
              <a:rPr sz="1200" b="0">
                <a:solidFill>
                  <a:srgbClr val="10151B"/>
                </a:solidFill>
                <a:latin typeface="Verdana"/>
              </a:rPr>
              <a:t>•  Borrow again: a clean repayment history skips KYC and credit entirely and goes straight to disbursement. Any past overdue routes to a human review queue first.</a:t>
            </a:r>
          </a:p>
          <a:p>
            <a:pPr>
              <a:lnSpc>
                <a:spcPct val="115000"/>
              </a:lnSpc>
              <a:spcAft>
                <a:spcPts val="900"/>
              </a:spcAft>
            </a:pPr>
            <a:r>
              <a:rPr sz="1000" b="0">
                <a:solidFill>
                  <a:srgbClr val="5B6B7C"/>
                </a:solidFill>
                <a:latin typeface="Verdana"/>
              </a:rPr>
              <a:t>One live loan at a time, with top-up allowed against remaining headroom.</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/loan/status  ·  /dashboard  ·  /repay  ·  /reloan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194560"/>
            <a:ext cx="2011680" cy="1463040"/>
          </a:xfrm>
          <a:prstGeom prst="rect">
            <a:avLst/>
          </a:prstGeom>
          <a:noFill/>
        </p:spPr>
        <p:txBody>
          <a:bodyPr wrap="square" anchor="t" lIns="0" rIns="0" tIns="0" bIns="0">
            <a:spAutoFit/>
          </a:bodyPr>
          <a:lstStyle/>
          <a:p>
            <a:pPr>
              <a:lnSpc>
                <a:spcPct val="115000"/>
              </a:lnSpc>
              <a:spcAft>
                <a:spcPts val="0"/>
              </a:spcAft>
            </a:pPr>
            <a:r>
              <a:rPr sz="6800" b="1">
                <a:solidFill>
                  <a:srgbClr val="E9B53A"/>
                </a:solidFill>
                <a:latin typeface="Verdana"/>
              </a:rPr>
              <a:t>02</a:t>
            </a:r>
          </a:p>
        </p:txBody>
      </p:sp>
      <p:sp>
        <p:nvSpPr>
          <p:cNvPr id="4" name="TextBox 3"/>
          <p:cNvSpPr txBox="1"/>
          <p:nvPr/>
        </p:nvSpPr>
        <p:spPr>
          <a:xfrm>
            <a:off x="658368" y="3291840"/>
            <a:ext cx="9509760" cy="1097280"/>
          </a:xfrm>
          <a:prstGeom prst="rect">
            <a:avLst/>
          </a:prstGeom>
          <a:noFill/>
        </p:spPr>
        <p:txBody>
          <a:bodyPr wrap="square" anchor="t" lIns="0" rIns="0" tIns="0" bIns="0">
            <a:spAutoFit/>
          </a:bodyPr>
          <a:lstStyle/>
          <a:p>
            <a:pPr>
              <a:lnSpc>
                <a:spcPct val="115000"/>
              </a:lnSpc>
              <a:spcAft>
                <a:spcPts val="800"/>
              </a:spcAft>
            </a:pPr>
            <a:r>
              <a:rPr sz="3400" b="1">
                <a:solidFill>
                  <a:srgbClr val="FFFFFF"/>
                </a:solidFill>
                <a:latin typeface="Verdana"/>
              </a:rPr>
              <a:t>The back office</a:t>
            </a:r>
          </a:p>
        </p:txBody>
      </p:sp>
      <p:sp>
        <p:nvSpPr>
          <p:cNvPr id="5" name="TextBox 4"/>
          <p:cNvSpPr txBox="1"/>
          <p:nvPr/>
        </p:nvSpPr>
        <p:spPr>
          <a:xfrm>
            <a:off x="658368" y="4206240"/>
            <a:ext cx="8961120" cy="914400"/>
          </a:xfrm>
          <a:prstGeom prst="rect">
            <a:avLst/>
          </a:prstGeom>
          <a:noFill/>
        </p:spPr>
        <p:txBody>
          <a:bodyPr wrap="square" anchor="t" lIns="0" rIns="0" tIns="0" bIns="0">
            <a:spAutoFit/>
          </a:bodyPr>
          <a:lstStyle/>
          <a:p>
            <a:pPr>
              <a:lnSpc>
                <a:spcPct val="115000"/>
              </a:lnSpc>
              <a:spcAft>
                <a:spcPts val="0"/>
              </a:spcAft>
            </a:pPr>
            <a:r>
              <a:rPr sz="1500" b="0">
                <a:solidFill>
                  <a:srgbClr val="FDFBF6"/>
                </a:solidFill>
                <a:latin typeface="Verdana"/>
              </a:rPr>
              <a:t>Nine roles, one state machine, and an audit trail that survives a regulator. This is the half that vendors leave you to build.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THE SPINE</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One status field walks the entire lifecycle</a:t>
            </a:r>
          </a:p>
        </p:txBody>
      </p:sp>
      <p:sp>
        <p:nvSpPr>
          <p:cNvPr id="5" name="TextBox 4"/>
          <p:cNvSpPr txBox="1"/>
          <p:nvPr/>
        </p:nvSpPr>
        <p:spPr>
          <a:xfrm>
            <a:off x="658368" y="1298448"/>
            <a:ext cx="10874959" cy="475488"/>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Every transition is validated against a transition map, checked against the actor's role, and appended to an immutable event log.</a:t>
            </a:r>
          </a:p>
        </p:txBody>
      </p:sp>
      <p:sp>
        <p:nvSpPr>
          <p:cNvPr id="6" name="Rectangle 5"/>
          <p:cNvSpPr/>
          <p:nvPr/>
        </p:nvSpPr>
        <p:spPr>
          <a:xfrm>
            <a:off x="658368" y="1920240"/>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9456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9514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KYC_PENDING</a:t>
            </a:r>
          </a:p>
          <a:p>
            <a:pPr>
              <a:lnSpc>
                <a:spcPct val="115000"/>
              </a:lnSpc>
              <a:spcAft>
                <a:spcPts val="0"/>
              </a:spcAft>
            </a:pPr>
            <a:r>
              <a:rPr sz="950" b="0">
                <a:solidFill>
                  <a:srgbClr val="5B6B7C"/>
                </a:solidFill>
                <a:latin typeface="Verdana"/>
              </a:rPr>
              <a:t>Borrower submits</a:t>
            </a:r>
          </a:p>
        </p:txBody>
      </p:sp>
      <p:sp>
        <p:nvSpPr>
          <p:cNvPr id="9" name="Right Arrow 8"/>
          <p:cNvSpPr/>
          <p:nvPr/>
        </p:nvSpPr>
        <p:spPr>
          <a:xfrm>
            <a:off x="2630363" y="256946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95539" y="219456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5267" y="229514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KYC_APPROVED</a:t>
            </a:r>
          </a:p>
          <a:p>
            <a:pPr>
              <a:lnSpc>
                <a:spcPct val="115000"/>
              </a:lnSpc>
              <a:spcAft>
                <a:spcPts val="0"/>
              </a:spcAft>
            </a:pPr>
            <a:r>
              <a:rPr sz="950" b="0">
                <a:solidFill>
                  <a:srgbClr val="5B6B7C"/>
                </a:solidFill>
                <a:latin typeface="Verdana"/>
              </a:rPr>
              <a:t>KYC approver</a:t>
            </a:r>
          </a:p>
        </p:txBody>
      </p:sp>
      <p:sp>
        <p:nvSpPr>
          <p:cNvPr id="12" name="Right Arrow 11"/>
          <p:cNvSpPr/>
          <p:nvPr/>
        </p:nvSpPr>
        <p:spPr>
          <a:xfrm>
            <a:off x="4867534" y="256946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32710" y="219456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2438" y="229514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CREDIT_EXEC</a:t>
            </a:r>
          </a:p>
          <a:p>
            <a:pPr>
              <a:lnSpc>
                <a:spcPct val="115000"/>
              </a:lnSpc>
              <a:spcAft>
                <a:spcPts val="0"/>
              </a:spcAft>
            </a:pPr>
            <a:r>
              <a:rPr sz="950" b="0">
                <a:solidFill>
                  <a:srgbClr val="5B6B7C"/>
                </a:solidFill>
                <a:latin typeface="Verdana"/>
              </a:rPr>
              <a:t>Executive recommends</a:t>
            </a:r>
          </a:p>
        </p:txBody>
      </p:sp>
      <p:sp>
        <p:nvSpPr>
          <p:cNvPr id="15" name="Right Arrow 14"/>
          <p:cNvSpPr/>
          <p:nvPr/>
        </p:nvSpPr>
        <p:spPr>
          <a:xfrm>
            <a:off x="7104705" y="256946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69881" y="219456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609" y="229514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CREDIT_HEAD</a:t>
            </a:r>
          </a:p>
          <a:p>
            <a:pPr>
              <a:lnSpc>
                <a:spcPct val="115000"/>
              </a:lnSpc>
              <a:spcAft>
                <a:spcPts val="0"/>
              </a:spcAft>
            </a:pPr>
            <a:r>
              <a:rPr sz="950" b="0">
                <a:solidFill>
                  <a:srgbClr val="5B6B7C"/>
                </a:solidFill>
                <a:latin typeface="Verdana"/>
              </a:rPr>
              <a:t>Head approves — SoD checked</a:t>
            </a:r>
          </a:p>
        </p:txBody>
      </p:sp>
      <p:sp>
        <p:nvSpPr>
          <p:cNvPr id="18" name="Right Arrow 17"/>
          <p:cNvSpPr/>
          <p:nvPr/>
        </p:nvSpPr>
        <p:spPr>
          <a:xfrm>
            <a:off x="9341876" y="256946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7052" y="219456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6780" y="229514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DISBURSEMENT</a:t>
            </a:r>
          </a:p>
          <a:p>
            <a:pPr>
              <a:lnSpc>
                <a:spcPct val="115000"/>
              </a:lnSpc>
              <a:spcAft>
                <a:spcPts val="0"/>
              </a:spcAft>
            </a:pPr>
            <a:r>
              <a:rPr sz="950" b="0">
                <a:solidFill>
                  <a:srgbClr val="5B6B7C"/>
                </a:solidFill>
                <a:latin typeface="Verdana"/>
              </a:rPr>
              <a:t>Head releases</a:t>
            </a:r>
          </a:p>
        </p:txBody>
      </p:sp>
      <p:sp>
        <p:nvSpPr>
          <p:cNvPr id="21" name="Rounded Rectangle 20"/>
          <p:cNvSpPr/>
          <p:nvPr/>
        </p:nvSpPr>
        <p:spPr>
          <a:xfrm>
            <a:off x="658368" y="365760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75818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ACCOUNTANT</a:t>
            </a:r>
          </a:p>
          <a:p>
            <a:pPr>
              <a:lnSpc>
                <a:spcPct val="115000"/>
              </a:lnSpc>
              <a:spcAft>
                <a:spcPts val="0"/>
              </a:spcAft>
            </a:pPr>
            <a:r>
              <a:rPr sz="950" b="0">
                <a:solidFill>
                  <a:srgbClr val="5B6B7C"/>
                </a:solidFill>
                <a:latin typeface="Verdana"/>
              </a:rPr>
              <a:t>Transfer validated</a:t>
            </a:r>
          </a:p>
        </p:txBody>
      </p:sp>
      <p:sp>
        <p:nvSpPr>
          <p:cNvPr id="23" name="Right Arrow 22"/>
          <p:cNvSpPr/>
          <p:nvPr/>
        </p:nvSpPr>
        <p:spPr>
          <a:xfrm>
            <a:off x="2630363" y="403250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95539" y="3657600"/>
            <a:ext cx="1926275" cy="896112"/>
          </a:xfrm>
          <a:prstGeom prst="roundRect">
            <a:avLst>
              <a:gd name="adj" fmla="val 14000"/>
            </a:avLst>
          </a:prstGeom>
          <a:solidFill>
            <a:srgbClr val="E9B53A"/>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05267" y="375818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ACTIVE</a:t>
            </a:r>
          </a:p>
          <a:p>
            <a:pPr>
              <a:lnSpc>
                <a:spcPct val="115000"/>
              </a:lnSpc>
              <a:spcAft>
                <a:spcPts val="0"/>
              </a:spcAft>
            </a:pPr>
            <a:r>
              <a:rPr sz="950" b="0">
                <a:solidFill>
                  <a:srgbClr val="0C2540"/>
                </a:solidFill>
                <a:latin typeface="Verdana"/>
              </a:rPr>
              <a:t>Loan minted, due date set</a:t>
            </a:r>
          </a:p>
        </p:txBody>
      </p:sp>
      <p:sp>
        <p:nvSpPr>
          <p:cNvPr id="26" name="Right Arrow 25"/>
          <p:cNvSpPr/>
          <p:nvPr/>
        </p:nvSpPr>
        <p:spPr>
          <a:xfrm>
            <a:off x="4867534" y="403250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32710" y="365760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42438" y="375818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OVERDUE</a:t>
            </a:r>
          </a:p>
          <a:p>
            <a:pPr>
              <a:lnSpc>
                <a:spcPct val="115000"/>
              </a:lnSpc>
              <a:spcAft>
                <a:spcPts val="0"/>
              </a:spcAft>
            </a:pPr>
            <a:r>
              <a:rPr sz="950" b="0">
                <a:solidFill>
                  <a:srgbClr val="5B6B7C"/>
                </a:solidFill>
                <a:latin typeface="Verdana"/>
              </a:rPr>
              <a:t>Penalty accrues, capped</a:t>
            </a:r>
          </a:p>
        </p:txBody>
      </p:sp>
      <p:sp>
        <p:nvSpPr>
          <p:cNvPr id="29" name="Right Arrow 28"/>
          <p:cNvSpPr/>
          <p:nvPr/>
        </p:nvSpPr>
        <p:spPr>
          <a:xfrm>
            <a:off x="7104705" y="403250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69881" y="365760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9609" y="375818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COLLECTIONS</a:t>
            </a:r>
          </a:p>
          <a:p>
            <a:pPr>
              <a:lnSpc>
                <a:spcPct val="115000"/>
              </a:lnSpc>
              <a:spcAft>
                <a:spcPts val="0"/>
              </a:spcAft>
            </a:pPr>
            <a:r>
              <a:rPr sz="950" b="0">
                <a:solidFill>
                  <a:srgbClr val="5B6B7C"/>
                </a:solidFill>
                <a:latin typeface="Verdana"/>
              </a:rPr>
              <a:t>Case, DPD, settlement</a:t>
            </a:r>
          </a:p>
        </p:txBody>
      </p:sp>
      <p:sp>
        <p:nvSpPr>
          <p:cNvPr id="32" name="Right Arrow 31"/>
          <p:cNvSpPr/>
          <p:nvPr/>
        </p:nvSpPr>
        <p:spPr>
          <a:xfrm>
            <a:off x="9341876" y="4032504"/>
            <a:ext cx="219456" cy="146304"/>
          </a:xfrm>
          <a:prstGeom prst="rightArrow">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07052" y="3657600"/>
            <a:ext cx="1926275" cy="896112"/>
          </a:xfrm>
          <a:prstGeom prst="roundRect">
            <a:avLst>
              <a:gd name="adj" fmla="val 14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6780" y="3758184"/>
            <a:ext cx="1706819" cy="713232"/>
          </a:xfrm>
          <a:prstGeom prst="rect">
            <a:avLst/>
          </a:prstGeom>
          <a:noFill/>
        </p:spPr>
        <p:txBody>
          <a:bodyPr wrap="square" anchor="t" lIns="0" rIns="0" tIns="0" bIns="0">
            <a:spAutoFit/>
          </a:bodyPr>
          <a:lstStyle/>
          <a:p>
            <a:pPr>
              <a:lnSpc>
                <a:spcPct val="115000"/>
              </a:lnSpc>
              <a:spcAft>
                <a:spcPts val="300"/>
              </a:spcAft>
            </a:pPr>
            <a:r>
              <a:rPr sz="1200" b="1">
                <a:solidFill>
                  <a:srgbClr val="0C2540"/>
                </a:solidFill>
                <a:latin typeface="Verdana"/>
              </a:rPr>
              <a:t>CLOSED</a:t>
            </a:r>
          </a:p>
          <a:p>
            <a:pPr>
              <a:lnSpc>
                <a:spcPct val="115000"/>
              </a:lnSpc>
              <a:spcAft>
                <a:spcPts val="0"/>
              </a:spcAft>
            </a:pPr>
            <a:r>
              <a:rPr sz="950" b="0">
                <a:solidFill>
                  <a:srgbClr val="5B6B7C"/>
                </a:solidFill>
                <a:latin typeface="Verdana"/>
              </a:rPr>
              <a:t>Balance reaches zero</a:t>
            </a:r>
          </a:p>
        </p:txBody>
      </p:sp>
      <p:sp>
        <p:nvSpPr>
          <p:cNvPr id="35" name="TextBox 34"/>
          <p:cNvSpPr txBox="1"/>
          <p:nvPr/>
        </p:nvSpPr>
        <p:spPr>
          <a:xfrm>
            <a:off x="658368" y="5212080"/>
            <a:ext cx="10874959" cy="1463040"/>
          </a:xfrm>
          <a:prstGeom prst="rect">
            <a:avLst/>
          </a:prstGeom>
          <a:noFill/>
        </p:spPr>
        <p:txBody>
          <a:bodyPr wrap="square" anchor="t" lIns="0" rIns="0" tIns="0" bIns="0">
            <a:spAutoFit/>
          </a:bodyPr>
          <a:lstStyle/>
          <a:p>
            <a:pPr>
              <a:lnSpc>
                <a:spcPct val="115000"/>
              </a:lnSpc>
              <a:spcAft>
                <a:spcPts val="0"/>
              </a:spcAft>
            </a:pPr>
            <a:r>
              <a:rPr sz="1150" b="0">
                <a:solidFill>
                  <a:srgbClr val="5B6B7C"/>
                </a:solidFill>
                <a:latin typeface="Verdana"/>
              </a:rPr>
              <a:t>No stage-skipping: an invalid jump is refused with ILLEGAL_TRANSITION, a wrong role with FORBIDDEN_ROLE, a same-actor approval with SOD_VIOLATION. Rejection and cancellation paths exist at every stage. The event log is append-only and is itself the source of truth for the SoD 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THE BACK OFFICE</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Nine roles, and exactly what each one may do</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Permissions are enforced in the services off a signed token — never in the browser, never in middleware.</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56816"/>
          <a:ext cx="10874958" cy="3684016"/>
        </p:xfrm>
        <a:graphic>
          <a:graphicData uri="http://schemas.openxmlformats.org/drawingml/2006/table">
            <a:tbl>
              <a:tblPr firstRow="1" bandRow="1">
                <a:tableStyleId>{5C22544A-7EE6-4342-B048-85BDC9FD1C3A}</a:tableStyleId>
              </a:tblPr>
              <a:tblGrid>
                <a:gridCol w="3044988"/>
                <a:gridCol w="7829970"/>
              </a:tblGrid>
              <a:tr h="310896">
                <a:tc>
                  <a:txBody>
                    <a:bodyPr/>
                    <a:lstStyle/>
                    <a:p>
                      <a:r>
                        <a:rPr sz="1100" b="1">
                          <a:solidFill>
                            <a:srgbClr val="FFFFFF"/>
                          </a:solidFill>
                          <a:latin typeface="Verdana"/>
                        </a:rPr>
                        <a:t>Role</a:t>
                      </a:r>
                    </a:p>
                  </a:txBody>
                  <a:tcPr marL="82296" marR="82296" marT="27432" marB="27432">
                    <a:solidFill>
                      <a:srgbClr val="0C2540"/>
                    </a:solidFill>
                  </a:tcPr>
                </a:tc>
                <a:tc>
                  <a:txBody>
                    <a:bodyPr/>
                    <a:lstStyle/>
                    <a:p>
                      <a:r>
                        <a:rPr sz="1100" b="1">
                          <a:solidFill>
                            <a:srgbClr val="FFFFFF"/>
                          </a:solidFill>
                          <a:latin typeface="Verdana"/>
                        </a:rPr>
                        <a:t>Owns this decision</a:t>
                      </a:r>
                    </a:p>
                  </a:txBody>
                  <a:tcPr marL="82296" marR="82296" marT="27432" marB="27432">
                    <a:solidFill>
                      <a:srgbClr val="0C2540"/>
                    </a:solidFill>
                  </a:tcPr>
                </a:tc>
              </a:tr>
              <a:tr h="454660">
                <a:tc>
                  <a:txBody>
                    <a:bodyPr/>
                    <a:lstStyle/>
                    <a:p>
                      <a:r>
                        <a:rPr sz="1100" b="0">
                          <a:solidFill>
                            <a:srgbClr val="10151B"/>
                          </a:solidFill>
                          <a:latin typeface="Verdana"/>
                        </a:rPr>
                        <a:t>KYC Approver</a:t>
                      </a:r>
                    </a:p>
                  </a:txBody>
                  <a:tcPr marL="82296" marR="82296" marT="27432" marB="27432">
                    <a:solidFill>
                      <a:srgbClr val="FFFFFF"/>
                    </a:solidFill>
                  </a:tcPr>
                </a:tc>
                <a:tc>
                  <a:txBody>
                    <a:bodyPr/>
                    <a:lstStyle/>
                    <a:p>
                      <a:r>
                        <a:rPr sz="1100" b="0">
                          <a:solidFill>
                            <a:srgbClr val="10151B"/>
                          </a:solidFill>
                          <a:latin typeface="Verdana"/>
                        </a:rPr>
                        <a:t>Approves or rejects KYC; clears returning borrowers who were ever overdue; can wave a low-risk file straight to disbursement.</a:t>
                      </a:r>
                    </a:p>
                  </a:txBody>
                  <a:tcPr marL="82296" marR="82296" marT="27432" marB="27432">
                    <a:solidFill>
                      <a:srgbClr val="FFFFFF"/>
                    </a:solidFill>
                  </a:tcPr>
                </a:tc>
              </a:tr>
              <a:tr h="310896">
                <a:tc>
                  <a:txBody>
                    <a:bodyPr/>
                    <a:lstStyle/>
                    <a:p>
                      <a:r>
                        <a:rPr sz="1100" b="0">
                          <a:solidFill>
                            <a:srgbClr val="10151B"/>
                          </a:solidFill>
                          <a:latin typeface="Verdana"/>
                        </a:rPr>
                        <a:t>Credit Executive</a:t>
                      </a:r>
                    </a:p>
                  </a:txBody>
                  <a:tcPr marL="82296" marR="82296" marT="27432" marB="27432">
                    <a:solidFill>
                      <a:srgbClr val="FFFFFF"/>
                    </a:solidFill>
                  </a:tcPr>
                </a:tc>
                <a:tc>
                  <a:txBody>
                    <a:bodyPr/>
                    <a:lstStyle/>
                    <a:p>
                      <a:r>
                        <a:rPr sz="1100" b="0">
                          <a:solidFill>
                            <a:srgbClr val="10151B"/>
                          </a:solidFill>
                          <a:latin typeface="Verdana"/>
                        </a:rPr>
                        <a:t>Recommends or rejects — the maker half of the credit decision.</a:t>
                      </a:r>
                    </a:p>
                  </a:txBody>
                  <a:tcPr marL="82296" marR="82296" marT="27432" marB="27432">
                    <a:solidFill>
                      <a:srgbClr val="FFFFFF"/>
                    </a:solidFill>
                  </a:tcPr>
                </a:tc>
              </a:tr>
              <a:tr h="454660">
                <a:tc>
                  <a:txBody>
                    <a:bodyPr/>
                    <a:lstStyle/>
                    <a:p>
                      <a:r>
                        <a:rPr sz="1100" b="0">
                          <a:solidFill>
                            <a:srgbClr val="10151B"/>
                          </a:solidFill>
                          <a:latin typeface="Verdana"/>
                        </a:rPr>
                        <a:t>Credit Head</a:t>
                      </a:r>
                    </a:p>
                  </a:txBody>
                  <a:tcPr marL="82296" marR="82296" marT="27432" marB="27432">
                    <a:solidFill>
                      <a:srgbClr val="FFFFFF"/>
                    </a:solidFill>
                  </a:tcPr>
                </a:tc>
                <a:tc>
                  <a:txBody>
                    <a:bodyPr/>
                    <a:lstStyle/>
                    <a:p>
                      <a:r>
                        <a:rPr sz="1100" b="0">
                          <a:solidFill>
                            <a:srgbClr val="10151B"/>
                          </a:solidFill>
                          <a:latin typeface="Verdana"/>
                        </a:rPr>
                        <a:t>Assigns the executive and gives final approval — the checker half. Cannot approve their own recommendation.</a:t>
                      </a:r>
                    </a:p>
                  </a:txBody>
                  <a:tcPr marL="82296" marR="82296" marT="27432" marB="27432">
                    <a:solidFill>
                      <a:srgbClr val="FFFFFF"/>
                    </a:solidFill>
                  </a:tcPr>
                </a:tc>
              </a:tr>
              <a:tr h="454660">
                <a:tc>
                  <a:txBody>
                    <a:bodyPr/>
                    <a:lstStyle/>
                    <a:p>
                      <a:r>
                        <a:rPr sz="1100" b="0">
                          <a:solidFill>
                            <a:srgbClr val="10151B"/>
                          </a:solidFill>
                          <a:latin typeface="Verdana"/>
                        </a:rPr>
                        <a:t>Disbursement Head</a:t>
                      </a:r>
                    </a:p>
                  </a:txBody>
                  <a:tcPr marL="82296" marR="82296" marT="27432" marB="27432">
                    <a:solidFill>
                      <a:srgbClr val="FFFFFF"/>
                    </a:solidFill>
                  </a:tcPr>
                </a:tc>
                <a:tc>
                  <a:txBody>
                    <a:bodyPr/>
                    <a:lstStyle/>
                    <a:p>
                      <a:r>
                        <a:rPr sz="1100" b="0">
                          <a:solidFill>
                            <a:srgbClr val="10151B"/>
                          </a:solidFill>
                          <a:latin typeface="Verdana"/>
                        </a:rPr>
                        <a:t>Releases funds: straight through with a transaction id, or routed to the accountant. Retries failures. Settles referral payouts.</a:t>
                      </a:r>
                    </a:p>
                  </a:txBody>
                  <a:tcPr marL="82296" marR="82296" marT="27432" marB="27432">
                    <a:solidFill>
                      <a:srgbClr val="FFFFFF"/>
                    </a:solidFill>
                  </a:tcPr>
                </a:tc>
              </a:tr>
              <a:tr h="454660">
                <a:tc>
                  <a:txBody>
                    <a:bodyPr/>
                    <a:lstStyle/>
                    <a:p>
                      <a:r>
                        <a:rPr sz="1100" b="0">
                          <a:solidFill>
                            <a:srgbClr val="10151B"/>
                          </a:solidFill>
                          <a:latin typeface="Verdana"/>
                        </a:rPr>
                        <a:t>Accountant</a:t>
                      </a:r>
                    </a:p>
                  </a:txBody>
                  <a:tcPr marL="82296" marR="82296" marT="27432" marB="27432">
                    <a:solidFill>
                      <a:srgbClr val="FFFFFF"/>
                    </a:solidFill>
                  </a:tcPr>
                </a:tc>
                <a:tc>
                  <a:txBody>
                    <a:bodyPr/>
                    <a:lstStyle/>
                    <a:p>
                      <a:r>
                        <a:rPr sz="1100" b="0">
                          <a:solidFill>
                            <a:srgbClr val="10151B"/>
                          </a:solidFill>
                          <a:latin typeface="Verdana"/>
                        </a:rPr>
                        <a:t>Validates the outgoing transfer (this is what mints the loan) and verifies or rejects borrower repayments.</a:t>
                      </a:r>
                    </a:p>
                  </a:txBody>
                  <a:tcPr marL="82296" marR="82296" marT="27432" marB="27432">
                    <a:solidFill>
                      <a:srgbClr val="FFFFFF"/>
                    </a:solidFill>
                  </a:tcPr>
                </a:tc>
              </a:tr>
              <a:tr h="310896">
                <a:tc>
                  <a:txBody>
                    <a:bodyPr/>
                    <a:lstStyle/>
                    <a:p>
                      <a:r>
                        <a:rPr sz="1100" b="0">
                          <a:solidFill>
                            <a:srgbClr val="10151B"/>
                          </a:solidFill>
                          <a:latin typeface="Verdana"/>
                        </a:rPr>
                        <a:t>Collection Head</a:t>
                      </a:r>
                    </a:p>
                  </a:txBody>
                  <a:tcPr marL="82296" marR="82296" marT="27432" marB="27432">
                    <a:solidFill>
                      <a:srgbClr val="FFFFFF"/>
                    </a:solidFill>
                  </a:tcPr>
                </a:tc>
                <a:tc>
                  <a:txBody>
                    <a:bodyPr/>
                    <a:lstStyle/>
                    <a:p>
                      <a:r>
                        <a:rPr sz="1100" b="0">
                          <a:solidFill>
                            <a:srgbClr val="10151B"/>
                          </a:solidFill>
                          <a:latin typeface="Verdana"/>
                        </a:rPr>
                        <a:t>Runs collections; approves or rejects settlements proposed by their own team.</a:t>
                      </a:r>
                    </a:p>
                  </a:txBody>
                  <a:tcPr marL="82296" marR="82296" marT="27432" marB="27432">
                    <a:solidFill>
                      <a:srgbClr val="FFFFFF"/>
                    </a:solidFill>
                  </a:tcPr>
                </a:tc>
              </a:tr>
              <a:tr h="310896">
                <a:tc>
                  <a:txBody>
                    <a:bodyPr/>
                    <a:lstStyle/>
                    <a:p>
                      <a:r>
                        <a:rPr sz="1100" b="0">
                          <a:solidFill>
                            <a:srgbClr val="10151B"/>
                          </a:solidFill>
                          <a:latin typeface="Verdana"/>
                        </a:rPr>
                        <a:t>Collection Executive</a:t>
                      </a:r>
                    </a:p>
                  </a:txBody>
                  <a:tcPr marL="82296" marR="82296" marT="27432" marB="27432">
                    <a:solidFill>
                      <a:srgbClr val="FFFFFF"/>
                    </a:solidFill>
                  </a:tcPr>
                </a:tc>
                <a:tc>
                  <a:txBody>
                    <a:bodyPr/>
                    <a:lstStyle/>
                    <a:p>
                      <a:r>
                        <a:rPr sz="1100" b="0">
                          <a:solidFill>
                            <a:srgbClr val="10151B"/>
                          </a:solidFill>
                          <a:latin typeface="Verdana"/>
                        </a:rPr>
                        <a:t>Works cases and logs interactions. Salary and employer fields are hidden from this role.</a:t>
                      </a:r>
                    </a:p>
                  </a:txBody>
                  <a:tcPr marL="82296" marR="82296" marT="27432" marB="27432">
                    <a:solidFill>
                      <a:srgbClr val="FFFFFF"/>
                    </a:solidFill>
                  </a:tcPr>
                </a:tc>
              </a:tr>
              <a:tr h="310896">
                <a:tc>
                  <a:txBody>
                    <a:bodyPr/>
                    <a:lstStyle/>
                    <a:p>
                      <a:r>
                        <a:rPr sz="1100" b="0">
                          <a:solidFill>
                            <a:srgbClr val="10151B"/>
                          </a:solidFill>
                          <a:latin typeface="Verdana"/>
                        </a:rPr>
                        <a:t>Admin</a:t>
                      </a:r>
                    </a:p>
                  </a:txBody>
                  <a:tcPr marL="82296" marR="82296" marT="27432" marB="27432">
                    <a:solidFill>
                      <a:srgbClr val="FFFFFF"/>
                    </a:solidFill>
                  </a:tcPr>
                </a:tc>
                <a:tc>
                  <a:txBody>
                    <a:bodyPr/>
                    <a:lstStyle/>
                    <a:p>
                      <a:r>
                        <a:rPr sz="1100" b="0">
                          <a:solidFill>
                            <a:srgbClr val="10151B"/>
                          </a:solidFill>
                          <a:latin typeface="Verdana"/>
                        </a:rPr>
                        <a:t>Oversight across every queue; audited KYC and salary corrections; blocklist, expenses, exports.</a:t>
                      </a:r>
                    </a:p>
                  </a:txBody>
                  <a:tcPr marL="82296" marR="82296" marT="27432" marB="27432">
                    <a:solidFill>
                      <a:srgbClr val="FFFFFF"/>
                    </a:solidFill>
                  </a:tcPr>
                </a:tc>
              </a:tr>
              <a:tr h="310896">
                <a:tc>
                  <a:txBody>
                    <a:bodyPr/>
                    <a:lstStyle/>
                    <a:p>
                      <a:r>
                        <a:rPr sz="1100" b="0">
                          <a:solidFill>
                            <a:srgbClr val="10151B"/>
                          </a:solidFill>
                          <a:latin typeface="Verdana"/>
                        </a:rPr>
                        <a:t>Developer</a:t>
                      </a:r>
                    </a:p>
                  </a:txBody>
                  <a:tcPr marL="82296" marR="82296" marT="27432" marB="27432">
                    <a:solidFill>
                      <a:srgbClr val="FFFFFF"/>
                    </a:solidFill>
                  </a:tcPr>
                </a:tc>
                <a:tc>
                  <a:txBody>
                    <a:bodyPr/>
                    <a:lstStyle/>
                    <a:p>
                      <a:r>
                        <a:rPr sz="1100" b="0">
                          <a:solidFill>
                            <a:srgbClr val="10151B"/>
                          </a:solidFill>
                          <a:latin typeface="Verdana"/>
                        </a:rPr>
                        <a:t>Read-only. Can see customers, can decide nothing.</a:t>
                      </a:r>
                    </a:p>
                  </a:txBody>
                  <a:tcPr marL="82296" marR="82296" marT="27432" marB="27432">
                    <a:solidFill>
                      <a:srgbClr val="FFFFFF"/>
                    </a:solidFill>
                  </a:tcPr>
                </a:tc>
              </a:tr>
            </a:tbl>
          </a:graphicData>
        </a:graphic>
      </p:graphicFrame>
      <p:sp>
        <p:nvSpPr>
          <p:cNvPr id="8" name="TextBox 7"/>
          <p:cNvSpPr txBox="1"/>
          <p:nvPr/>
        </p:nvSpPr>
        <p:spPr>
          <a:xfrm>
            <a:off x="658368" y="5805424"/>
            <a:ext cx="10874959" cy="869696"/>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Borrower and staff sessions are separate namespaces — different login endpoints, different cookies, different token audiences. A borrower token cannot address a staff endpoint even in principle.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1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The console: one workbench, your queues only</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Every staff member signs into the same page and sees the work that is actually theirs.</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Staff dashboard + live application pipeline</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The dashboard opens on 'N items need your action' for that role — a personal queue, not a report to interpret.</a:t>
            </a:r>
          </a:p>
          <a:p>
            <a:pPr>
              <a:lnSpc>
                <a:spcPct val="115000"/>
              </a:lnSpc>
              <a:spcAft>
                <a:spcPts val="900"/>
              </a:spcAft>
            </a:pPr>
            <a:r>
              <a:rPr sz="1200" b="0">
                <a:solidFill>
                  <a:srgbClr val="10151B"/>
                </a:solidFill>
                <a:latin typeface="Verdana"/>
              </a:rPr>
              <a:t>•  Thirty-day sparklines for applications, disbursals and repayments, plus a pipeline bar across every stage.</a:t>
            </a:r>
          </a:p>
          <a:p>
            <a:pPr>
              <a:lnSpc>
                <a:spcPct val="115000"/>
              </a:lnSpc>
              <a:spcAft>
                <a:spcPts val="900"/>
              </a:spcAft>
            </a:pPr>
            <a:r>
              <a:rPr sz="1200" b="0">
                <a:solidFill>
                  <a:srgbClr val="10151B"/>
                </a:solidFill>
                <a:latin typeface="Verdana"/>
              </a:rPr>
              <a:t>•  The pipeline page is a literal rendering of the state machine: one panel per status, each with its stage's action buttons.</a:t>
            </a:r>
          </a:p>
          <a:p>
            <a:pPr>
              <a:lnSpc>
                <a:spcPct val="115000"/>
              </a:lnSpc>
              <a:spcAft>
                <a:spcPts val="900"/>
              </a:spcAft>
            </a:pPr>
            <a:r>
              <a:rPr sz="1200" b="0">
                <a:solidFill>
                  <a:srgbClr val="10151B"/>
                </a:solidFill>
                <a:latin typeface="Verdana"/>
              </a:rPr>
              <a:t>•  Admin sees all eight panels at once as an oversight surface; every other role sees only the panels it can act on.</a:t>
            </a:r>
          </a:p>
          <a:p>
            <a:pPr>
              <a:lnSpc>
                <a:spcPct val="115000"/>
              </a:lnSpc>
              <a:spcAft>
                <a:spcPts val="900"/>
              </a:spcAft>
            </a:pPr>
            <a:r>
              <a:rPr sz="1000" b="0">
                <a:solidFill>
                  <a:srgbClr val="5B6B7C"/>
                </a:solidFill>
                <a:latin typeface="Verdana"/>
              </a:rPr>
              <a:t>The closed-loans archive is deliberately lazy-loaded, so the console never polls history nobody is looking at.</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/staff/dashboard  ·  /staff/applications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2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Verification dashboard: triage, not a spreadsheet</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Which borrowers are stuck, on what, and whose problem it is.</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Verification dashboard — tiles, triage buckets, manual override dialog</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Five tiles: pending, failed, in review, passed, never run — across every in-flight application.</a:t>
            </a:r>
          </a:p>
          <a:p>
            <a:pPr>
              <a:lnSpc>
                <a:spcPct val="115000"/>
              </a:lnSpc>
              <a:spcAft>
                <a:spcPts val="900"/>
              </a:spcAft>
            </a:pPr>
            <a:r>
              <a:rPr sz="1200" b="0">
                <a:solidFill>
                  <a:srgbClr val="10151B"/>
                </a:solidFill>
                <a:latin typeface="Verdana"/>
              </a:rPr>
              <a:t>•  Four triage buckets in priority order: has failures, awaiting the borrower, all passed, not started.</a:t>
            </a:r>
          </a:p>
          <a:p>
            <a:pPr>
              <a:lnSpc>
                <a:spcPct val="115000"/>
              </a:lnSpc>
              <a:spcAft>
                <a:spcPts val="900"/>
              </a:spcAft>
            </a:pPr>
            <a:r>
              <a:rPr sz="1200" b="0">
                <a:solidFill>
                  <a:srgbClr val="10151B"/>
                </a:solidFill>
                <a:latin typeface="Verdana"/>
              </a:rPr>
              <a:t>•  Open any applicant for the check-by-check view with each provider's verdict.</a:t>
            </a:r>
          </a:p>
          <a:p>
            <a:pPr>
              <a:lnSpc>
                <a:spcPct val="115000"/>
              </a:lnSpc>
              <a:spcAft>
                <a:spcPts val="900"/>
              </a:spcAft>
            </a:pPr>
            <a:r>
              <a:rPr sz="1200" b="0">
                <a:solidFill>
                  <a:srgbClr val="10151B"/>
                </a:solidFill>
                <a:latin typeface="Verdana"/>
              </a:rPr>
              <a:t>•  Manual override: a KYC approver can pass or fail a single check with remarks — recorded as a MANUAL decision, in the audit trail.</a:t>
            </a:r>
          </a:p>
          <a:p>
            <a:pPr>
              <a:lnSpc>
                <a:spcPct val="115000"/>
              </a:lnSpc>
              <a:spcAft>
                <a:spcPts val="900"/>
              </a:spcAft>
            </a:pPr>
            <a:r>
              <a:rPr sz="1000" b="0">
                <a:solidFill>
                  <a:srgbClr val="5B6B7C"/>
                </a:solidFill>
                <a:latin typeface="Verdana"/>
              </a:rPr>
              <a:t>One-click reminder nudges the borrower on exactly the steps still outstanding.</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/staff/verifications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3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KYC clearance — and the deliberate fast path</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Two queues that are kept permanently apart: new files, and returning borrowers with history.</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KYC approvals queue  +  reborrow review queue</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New applications: approve or reject, with the full verification picture on the same screen.</a:t>
            </a:r>
          </a:p>
          <a:p>
            <a:pPr>
              <a:lnSpc>
                <a:spcPct val="115000"/>
              </a:lnSpc>
              <a:spcAft>
                <a:spcPts val="900"/>
              </a:spcAft>
            </a:pPr>
            <a:r>
              <a:rPr sz="1200" b="0">
                <a:solidFill>
                  <a:srgbClr val="10151B"/>
                </a:solidFill>
                <a:latin typeface="Verdana"/>
              </a:rPr>
              <a:t>•  Below it, the instant-loan panel — a KYC approver can send a low-risk file straight to the Disbursement Head, skipping the credit chain.</a:t>
            </a:r>
          </a:p>
          <a:p>
            <a:pPr>
              <a:lnSpc>
                <a:spcPct val="115000"/>
              </a:lnSpc>
              <a:spcAft>
                <a:spcPts val="900"/>
              </a:spcAft>
            </a:pPr>
            <a:r>
              <a:rPr sz="1200" b="0">
                <a:solidFill>
                  <a:srgbClr val="10151B"/>
                </a:solidFill>
                <a:latin typeface="Verdana"/>
              </a:rPr>
              <a:t>•  Separate queue: returning borrowers who were ever overdue, each row showing their loan history inline.</a:t>
            </a:r>
          </a:p>
          <a:p>
            <a:pPr>
              <a:lnSpc>
                <a:spcPct val="115000"/>
              </a:lnSpc>
              <a:spcAft>
                <a:spcPts val="900"/>
              </a:spcAft>
            </a:pPr>
            <a:r>
              <a:rPr sz="1200" b="0">
                <a:solidFill>
                  <a:srgbClr val="10151B"/>
                </a:solidFill>
                <a:latin typeface="Verdana"/>
              </a:rPr>
              <a:t>•  Buttons there read 'Clear borrower' or 'Reject' — different decision, different language.</a:t>
            </a:r>
          </a:p>
          <a:p>
            <a:pPr>
              <a:lnSpc>
                <a:spcPct val="115000"/>
              </a:lnSpc>
              <a:spcAft>
                <a:spcPts val="900"/>
              </a:spcAft>
            </a:pPr>
            <a:r>
              <a:rPr sz="1000" b="0">
                <a:solidFill>
                  <a:srgbClr val="5B6B7C"/>
                </a:solidFill>
                <a:latin typeface="Verdana"/>
              </a:rPr>
              <a:t>A clean repayment history never reaches this queue at all. Only past delinquency does.</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/staff/kyc-approvals  ·  /staff/kyc-review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4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Credit: assign, recommend, approve</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The maker-checker chain, with the bureau brief on the same screen as the decision.</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Application detail — credit badge, journey stepper, cost card, audit log</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The head assigns an executive — and the picker only lists currently active executives, so work is never assigned into a void.</a:t>
            </a:r>
          </a:p>
          <a:p>
            <a:pPr>
              <a:lnSpc>
                <a:spcPct val="115000"/>
              </a:lnSpc>
              <a:spcAft>
                <a:spcPts val="900"/>
              </a:spcAft>
            </a:pPr>
            <a:r>
              <a:rPr sz="1200" b="0">
                <a:solidFill>
                  <a:srgbClr val="10151B"/>
                </a:solidFill>
                <a:latin typeface="Verdana"/>
              </a:rPr>
              <a:t>•  Application detail carries a staff-only score and star rating pill, plus the one-page bureau brief as a downloadable PDF.</a:t>
            </a:r>
          </a:p>
          <a:p>
            <a:pPr>
              <a:lnSpc>
                <a:spcPct val="115000"/>
              </a:lnSpc>
              <a:spcAft>
                <a:spcPts val="900"/>
              </a:spcAft>
            </a:pPr>
            <a:r>
              <a:rPr sz="1200" b="0">
                <a:solidFill>
                  <a:srgbClr val="10151B"/>
                </a:solidFill>
                <a:latin typeface="Verdana"/>
              </a:rPr>
              <a:t>•  The journey stepper shows every step with its evidence; the cost card shows fee, GST, net disbursal and total repayable.</a:t>
            </a:r>
          </a:p>
          <a:p>
            <a:pPr>
              <a:lnSpc>
                <a:spcPct val="115000"/>
              </a:lnSpc>
              <a:spcAft>
                <a:spcPts val="900"/>
              </a:spcAft>
            </a:pPr>
            <a:r>
              <a:rPr sz="1200" b="0">
                <a:solidFill>
                  <a:srgbClr val="10151B"/>
                </a:solidFill>
                <a:latin typeface="Verdana"/>
              </a:rPr>
              <a:t>•  A collapsed audit log lists every action, actor and timestamp on that application.</a:t>
            </a:r>
          </a:p>
          <a:p>
            <a:pPr>
              <a:lnSpc>
                <a:spcPct val="115000"/>
              </a:lnSpc>
              <a:spcAft>
                <a:spcPts val="900"/>
              </a:spcAft>
            </a:pPr>
            <a:r>
              <a:rPr sz="1000" b="0">
                <a:solidFill>
                  <a:srgbClr val="5B6B7C"/>
                </a:solidFill>
                <a:latin typeface="Verdana"/>
              </a:rPr>
              <a:t>The score is never shown to the borrower, and risk band never changes the price. It informs a human decision; it does not make one.</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/staff/applications » Open  ·  /staff/credit/queue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THE DIFFERENTIATOR</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Separation of duties, enforced by replaying the audit log</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Not a UI convention. Not a config flag. The server refuses.</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How it actually works</a:t>
            </a:r>
          </a:p>
          <a:p>
            <a:pPr>
              <a:lnSpc>
                <a:spcPct val="115000"/>
              </a:lnSpc>
              <a:spcAft>
                <a:spcPts val="1000"/>
              </a:spcAft>
            </a:pPr>
            <a:r>
              <a:rPr sz="1250" b="0">
                <a:solidFill>
                  <a:srgbClr val="10151B"/>
                </a:solidFill>
                <a:latin typeface="Verdana"/>
              </a:rPr>
              <a:t>•  Every maker-checker approval replays that application's event log before it commits.</a:t>
            </a:r>
          </a:p>
          <a:p>
            <a:pPr>
              <a:lnSpc>
                <a:spcPct val="115000"/>
              </a:lnSpc>
              <a:spcAft>
                <a:spcPts val="1000"/>
              </a:spcAft>
            </a:pPr>
            <a:r>
              <a:rPr sz="1250" b="0">
                <a:solidFill>
                  <a:srgbClr val="10151B"/>
                </a:solidFill>
                <a:latin typeface="Verdana"/>
              </a:rPr>
              <a:t>•  If the actor now approving is the same staff id that recommended, the call is rejected with SOD_VIOLATION. There is no UI path around it, because the check is not in the UI.</a:t>
            </a:r>
          </a:p>
          <a:p>
            <a:pPr>
              <a:lnSpc>
                <a:spcPct val="115000"/>
              </a:lnSpc>
              <a:spcAft>
                <a:spcPts val="1000"/>
              </a:spcAft>
            </a:pPr>
            <a:r>
              <a:rPr sz="1250" b="0">
                <a:solidFill>
                  <a:srgbClr val="10151B"/>
                </a:solidFill>
                <a:latin typeface="Verdana"/>
              </a:rPr>
              <a:t>•  The same shape applies to settlements — the officer who proposed one cannot approve it — and to repayment verification.</a:t>
            </a:r>
          </a:p>
          <a:p>
            <a:pPr>
              <a:lnSpc>
                <a:spcPct val="115000"/>
              </a:lnSpc>
              <a:spcAft>
                <a:spcPts val="500"/>
              </a:spcAft>
            </a:pPr>
            <a:r>
              <a:rPr sz="1350" b="1">
                <a:solidFill>
                  <a:srgbClr val="0C2540"/>
                </a:solidFill>
                <a:latin typeface="Verdana"/>
              </a:rPr>
              <a:t>Every approve has a paired reject</a:t>
            </a:r>
          </a:p>
          <a:p>
            <a:pPr>
              <a:lnSpc>
                <a:spcPct val="115000"/>
              </a:lnSpc>
              <a:spcAft>
                <a:spcPts val="1000"/>
              </a:spcAft>
            </a:pPr>
            <a:r>
              <a:rPr sz="1250" b="0">
                <a:solidFill>
                  <a:srgbClr val="10151B"/>
                </a:solidFill>
                <a:latin typeface="Verdana"/>
              </a:rPr>
              <a:t>•  Credit, disbursement, settlements, repayment verification: each approval has a real, audited counter-action. We refuse to ship approve-only flows, because that is how staff end up faking approvals to clear a queue.</a:t>
            </a:r>
          </a:p>
        </p:txBody>
      </p:sp>
      <p:sp>
        <p:nvSpPr>
          <p:cNvPr id="8" name="TextBox 7"/>
          <p:cNvSpPr txBox="1"/>
          <p:nvPr/>
        </p:nvSpPr>
        <p:spPr>
          <a:xfrm>
            <a:off x="6370167"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Why this is the slide that matters</a:t>
            </a:r>
          </a:p>
          <a:p>
            <a:pPr>
              <a:lnSpc>
                <a:spcPct val="115000"/>
              </a:lnSpc>
              <a:spcAft>
                <a:spcPts val="1000"/>
              </a:spcAft>
            </a:pPr>
            <a:r>
              <a:rPr sz="1250" b="0">
                <a:solidFill>
                  <a:srgbClr val="10151B"/>
                </a:solidFill>
                <a:latin typeface="Verdana"/>
              </a:rPr>
              <a:t>•  This is the control an auditor asks about first, and the one bolted-together stacks cannot produce — because no single system saw both halves of the decision.</a:t>
            </a:r>
          </a:p>
          <a:p>
            <a:pPr>
              <a:lnSpc>
                <a:spcPct val="115000"/>
              </a:lnSpc>
              <a:spcAft>
                <a:spcPts val="1000"/>
              </a:spcAft>
            </a:pPr>
            <a:r>
              <a:rPr sz="1250" b="0">
                <a:solidFill>
                  <a:srgbClr val="10151B"/>
                </a:solidFill>
                <a:latin typeface="Verdana"/>
              </a:rPr>
              <a:t>•  Because the log is append-only and is itself the input to the check, the control cannot drift out of sync with the record of it.</a:t>
            </a:r>
          </a:p>
          <a:p>
            <a:pPr>
              <a:lnSpc>
                <a:spcPct val="115000"/>
              </a:lnSpc>
              <a:spcAft>
                <a:spcPts val="500"/>
              </a:spcAft>
            </a:pPr>
            <a:r>
              <a:rPr sz="1350" b="1">
                <a:solidFill>
                  <a:srgbClr val="0C2540"/>
                </a:solidFill>
                <a:latin typeface="Verdana"/>
              </a:rPr>
              <a:t>The one documented exception</a:t>
            </a:r>
          </a:p>
          <a:p>
            <a:pPr>
              <a:lnSpc>
                <a:spcPct val="115000"/>
              </a:lnSpc>
              <a:spcAft>
                <a:spcPts val="1000"/>
              </a:spcAft>
            </a:pPr>
            <a:r>
              <a:rPr sz="1250" b="0">
                <a:solidFill>
                  <a:srgbClr val="10151B"/>
                </a:solidFill>
                <a:latin typeface="Verdana"/>
              </a:rPr>
              <a:t>•  Admin is deliberately exempt, so oversight can walk a stuck loan through one step at a time. It is a written product decision, and every step it takes is still logged under the admin's own staff id.</a:t>
            </a:r>
          </a:p>
          <a:p>
            <a:pPr>
              <a:lnSpc>
                <a:spcPct val="115000"/>
              </a:lnSpc>
              <a:spcAft>
                <a:spcPts val="1000"/>
              </a:spcAft>
            </a:pPr>
            <a:r>
              <a:rPr sz="1050" b="0">
                <a:solidFill>
                  <a:srgbClr val="5B6B7C"/>
                </a:solidFill>
                <a:latin typeface="Verdana"/>
              </a:rPr>
              <a:t>We will show you the exemption on screen too. A control you cannot describe the limits of is not a control.</a:t>
            </a:r>
          </a:p>
        </p:txBody>
      </p:sp>
      <p:pic>
        <p:nvPicPr>
          <p:cNvPr id="9" name="Picture 8"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5 OF 8</a:t>
            </a:r>
          </a:p>
        </p:txBody>
      </p:sp>
      <p:sp>
        <p:nvSpPr>
          <p:cNvPr id="4" name="TextBox 3"/>
          <p:cNvSpPr txBox="1"/>
          <p:nvPr/>
        </p:nvSpPr>
        <p:spPr>
          <a:xfrm>
            <a:off x="658368" y="749808"/>
            <a:ext cx="10874959" cy="9144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Disbursement and accounting: money moves on a human confirmation</a:t>
            </a:r>
          </a:p>
        </p:txBody>
      </p:sp>
      <p:sp>
        <p:nvSpPr>
          <p:cNvPr id="5" name="TextBox 4"/>
          <p:cNvSpPr txBox="1"/>
          <p:nvPr/>
        </p:nvSpPr>
        <p:spPr>
          <a:xfrm>
            <a:off x="658368" y="17556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Two release paths, one ledger, no automatic reconciliation.</a:t>
            </a:r>
          </a:p>
        </p:txBody>
      </p:sp>
      <p:sp>
        <p:nvSpPr>
          <p:cNvPr id="6" name="Rectangle 5"/>
          <p:cNvSpPr/>
          <p:nvPr/>
        </p:nvSpPr>
        <p:spPr>
          <a:xfrm>
            <a:off x="658368" y="21396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4140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6151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7398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Disbursement panels  ·  transfers to confirm  ·  transactions ledger</a:t>
            </a:r>
          </a:p>
        </p:txBody>
      </p:sp>
      <p:sp>
        <p:nvSpPr>
          <p:cNvPr id="10" name="TextBox 9"/>
          <p:cNvSpPr txBox="1"/>
          <p:nvPr/>
        </p:nvSpPr>
        <p:spPr>
          <a:xfrm>
            <a:off x="7525512" y="2359152"/>
            <a:ext cx="4007815" cy="38404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Fast release: the Disbursement Head enters the transaction id and the loan activates immediately, reference recorded.</a:t>
            </a:r>
          </a:p>
          <a:p>
            <a:pPr>
              <a:lnSpc>
                <a:spcPct val="115000"/>
              </a:lnSpc>
              <a:spcAft>
                <a:spcPts val="900"/>
              </a:spcAft>
            </a:pPr>
            <a:r>
              <a:rPr sz="1200" b="0">
                <a:solidFill>
                  <a:srgbClr val="10151B"/>
                </a:solidFill>
                <a:latin typeface="Verdana"/>
              </a:rPr>
              <a:t>•  Controlled release: approve without an id and it routes to the Accountant to validate the transfer first.</a:t>
            </a:r>
          </a:p>
          <a:p>
            <a:pPr>
              <a:lnSpc>
                <a:spcPct val="115000"/>
              </a:lnSpc>
              <a:spcAft>
                <a:spcPts val="900"/>
              </a:spcAft>
            </a:pPr>
            <a:r>
              <a:rPr sz="1200" b="0">
                <a:solidFill>
                  <a:srgbClr val="10151B"/>
                </a:solidFill>
                <a:latin typeface="Verdana"/>
              </a:rPr>
              <a:t>•  Confirming that transfer is what mints the loan and sets the salary-linked due date. Failures land in a retry panel, not a void.</a:t>
            </a:r>
          </a:p>
          <a:p>
            <a:pPr>
              <a:lnSpc>
                <a:spcPct val="115000"/>
              </a:lnSpc>
              <a:spcAft>
                <a:spcPts val="900"/>
              </a:spcAft>
            </a:pPr>
            <a:r>
              <a:rPr sz="1200" b="0">
                <a:solidFill>
                  <a:srgbClr val="10151B"/>
                </a:solidFill>
                <a:latin typeface="Verdana"/>
              </a:rPr>
              <a:t>•  Repayments the borrower reports queue for accountant verification — verifying is what reduces the balance and can close the loan.</a:t>
            </a:r>
          </a:p>
          <a:p>
            <a:pPr>
              <a:lnSpc>
                <a:spcPct val="115000"/>
              </a:lnSpc>
              <a:spcAft>
                <a:spcPts val="900"/>
              </a:spcAft>
            </a:pPr>
            <a:r>
              <a:rPr sz="1000" b="0">
                <a:solidFill>
                  <a:srgbClr val="5B6B7C"/>
                </a:solidFill>
                <a:latin typeface="Verdana"/>
              </a:rPr>
              <a:t>One company-wide ledger of every disbursal out and repayment in, searchable, date-ranged, exportable.</a:t>
            </a:r>
          </a:p>
        </p:txBody>
      </p:sp>
      <p:sp>
        <p:nvSpPr>
          <p:cNvPr id="11" name="TextBox 10"/>
          <p:cNvSpPr txBox="1"/>
          <p:nvPr/>
        </p:nvSpPr>
        <p:spPr>
          <a:xfrm>
            <a:off x="658368" y="61996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/staff/applications (Disb. Head, Accountant)  ·  /staff/accounting/transactions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6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Collections: buckets, cases, and arithmetic you can read</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Assign from the row, log every contact with proof, and settle under maker-checker.</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Overdue queue with live DPD  ·  DPD buckets  ·  case detail  ·  settlements</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The overdue queue shows live days-past-due per loan; the head assigns an officer straight from the row, which opens the case.</a:t>
            </a:r>
          </a:p>
          <a:p>
            <a:pPr>
              <a:lnSpc>
                <a:spcPct val="115000"/>
              </a:lnSpc>
              <a:spcAft>
                <a:spcPts val="900"/>
              </a:spcAft>
            </a:pPr>
            <a:r>
              <a:rPr sz="1200" b="0">
                <a:solidFill>
                  <a:srgbClr val="10151B"/>
                </a:solidFill>
                <a:latin typeface="Verdana"/>
              </a:rPr>
              <a:t>•  DPD buckets — upcoming, 1–7, 8–30, 31–60, 61–90, 90+ — computed on read, never a stale stored field.</a:t>
            </a:r>
          </a:p>
          <a:p>
            <a:pPr>
              <a:lnSpc>
                <a:spcPct val="115000"/>
              </a:lnSpc>
              <a:spcAft>
                <a:spcPts val="900"/>
              </a:spcAft>
            </a:pPr>
            <a:r>
              <a:rPr sz="1200" b="0">
                <a:solidFill>
                  <a:srgbClr val="10151B"/>
                </a:solidFill>
                <a:latin typeface="Verdana"/>
              </a:rPr>
              <a:t>•  The amount due card spells out its own arithmetic: 1%/day interest across N days, 2%/day penalty capped at 30. Auditable, not a black box.</a:t>
            </a:r>
          </a:p>
          <a:p>
            <a:pPr>
              <a:lnSpc>
                <a:spcPct val="115000"/>
              </a:lnSpc>
              <a:spcAft>
                <a:spcPts val="900"/>
              </a:spcAft>
            </a:pPr>
            <a:r>
              <a:rPr sz="1200" b="0">
                <a:solidFill>
                  <a:srgbClr val="10151B"/>
                </a:solidFill>
                <a:latin typeface="Verdana"/>
              </a:rPr>
              <a:t>•  Interaction log demands a proof reference the moment an outcome is recorded as PAID — otherwise the API refuses.</a:t>
            </a:r>
          </a:p>
          <a:p>
            <a:pPr>
              <a:lnSpc>
                <a:spcPct val="115000"/>
              </a:lnSpc>
              <a:spcAft>
                <a:spcPts val="900"/>
              </a:spcAft>
            </a:pPr>
            <a:r>
              <a:rPr sz="1000" b="0">
                <a:solidFill>
                  <a:srgbClr val="5B6B7C"/>
                </a:solidFill>
                <a:latin typeface="Verdana"/>
              </a:rPr>
              <a:t>Settlements are propose-then-approve: the officer who proposed one can never approve it.</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/staff/applications  ·  /staff/collections/settlements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BACK OFFICE  ·  7 OF 8</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Customers and administration</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One borrower-centric view, and the levers an operations lead actually asks for on day two.</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56816"/>
            <a:ext cx="6501384" cy="3657600"/>
          </a:xfrm>
          <a:prstGeom prst="rect">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2157984"/>
            <a:ext cx="6099048" cy="3255264"/>
          </a:xfrm>
          <a:prstGeom prst="rect">
            <a:avLst/>
          </a:prstGeom>
          <a:noFill/>
          <a:ln w="15875">
            <a:solidFill>
              <a:srgbClr val="E9B5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282696"/>
            <a:ext cx="5586984" cy="1005840"/>
          </a:xfrm>
          <a:prstGeom prst="rect">
            <a:avLst/>
          </a:prstGeom>
          <a:noFill/>
        </p:spPr>
        <p:txBody>
          <a:bodyPr wrap="square" anchor="ctr" lIns="0" rIns="0" tIns="0" bIns="0">
            <a:spAutoFit/>
          </a:bodyPr>
          <a:lstStyle/>
          <a:p>
            <a:pPr>
              <a:lnSpc>
                <a:spcPct val="115000"/>
              </a:lnSpc>
              <a:spcAft>
                <a:spcPts val="600"/>
              </a:spcAft>
            </a:pPr>
            <a:r>
              <a:rPr sz="1100" b="1">
                <a:solidFill>
                  <a:srgbClr val="E9B53A"/>
                </a:solidFill>
                <a:latin typeface="Verdana"/>
              </a:rPr>
              <a:t>SCREENSHOT</a:t>
            </a:r>
          </a:p>
          <a:p>
            <a:pPr>
              <a:lnSpc>
                <a:spcPct val="115000"/>
              </a:lnSpc>
              <a:spcAft>
                <a:spcPts val="0"/>
              </a:spcAft>
            </a:pPr>
            <a:r>
              <a:rPr sz="1300" b="0">
                <a:solidFill>
                  <a:srgbClr val="5B6B7C"/>
                </a:solidFill>
                <a:latin typeface="Verdana"/>
              </a:rPr>
              <a:t>Customer 360  ·  staff roster  ·  blocklist  ·  payment settings  ·  expenses</a:t>
            </a:r>
          </a:p>
        </p:txBody>
      </p:sp>
      <p:sp>
        <p:nvSpPr>
          <p:cNvPr id="10" name="TextBox 9"/>
          <p:cNvSpPr txBox="1"/>
          <p:nvPr/>
        </p:nvSpPr>
        <p:spPr>
          <a:xfrm>
            <a:off x="7525512" y="1901952"/>
            <a:ext cx="4007815" cy="4297680"/>
          </a:xfrm>
          <a:prstGeom prst="rect">
            <a:avLst/>
          </a:prstGeom>
          <a:noFill/>
        </p:spPr>
        <p:txBody>
          <a:bodyPr wrap="square" anchor="t" lIns="0" rIns="0" tIns="0" bIns="0">
            <a:spAutoFit/>
          </a:bodyPr>
          <a:lstStyle/>
          <a:p>
            <a:pPr>
              <a:lnSpc>
                <a:spcPct val="115000"/>
              </a:lnSpc>
              <a:spcAft>
                <a:spcPts val="900"/>
              </a:spcAft>
            </a:pPr>
            <a:r>
              <a:rPr sz="1200" b="0">
                <a:solidFill>
                  <a:srgbClr val="10151B"/>
                </a:solidFill>
                <a:latin typeface="Verdana"/>
              </a:rPr>
              <a:t>•  Customer 360: every application, loan, payment and profile change in one place, searchable by name or id.</a:t>
            </a:r>
          </a:p>
          <a:p>
            <a:pPr>
              <a:lnSpc>
                <a:spcPct val="115000"/>
              </a:lnSpc>
              <a:spcAft>
                <a:spcPts val="900"/>
              </a:spcAft>
            </a:pPr>
            <a:r>
              <a:rPr sz="1200" b="0">
                <a:solidFill>
                  <a:srgbClr val="10151B"/>
                </a:solidFill>
                <a:latin typeface="Verdana"/>
              </a:rPr>
              <a:t>•  Admin corrections are audited field by field, previous value beside new. Identity fields (PAN, Aadhaar, mobile) are locked.</a:t>
            </a:r>
          </a:p>
          <a:p>
            <a:pPr>
              <a:lnSpc>
                <a:spcPct val="115000"/>
              </a:lnSpc>
              <a:spcAft>
                <a:spcPts val="900"/>
              </a:spcAft>
            </a:pPr>
            <a:r>
              <a:rPr sz="1200" b="0">
                <a:solidFill>
                  <a:srgbClr val="10151B"/>
                </a:solidFill>
                <a:latin typeface="Verdana"/>
              </a:rPr>
              <a:t>•  A salary correction recomputes the eligible limit automatically — the derived number can never contradict the stored one.</a:t>
            </a:r>
          </a:p>
          <a:p>
            <a:pPr>
              <a:lnSpc>
                <a:spcPct val="115000"/>
              </a:lnSpc>
              <a:spcAft>
                <a:spcPts val="900"/>
              </a:spcAft>
            </a:pPr>
            <a:r>
              <a:rPr sz="1200" b="0">
                <a:solidFill>
                  <a:srgbClr val="10151B"/>
                </a:solidFill>
                <a:latin typeface="Verdana"/>
              </a:rPr>
              <a:t>•  Fraud blocklist by PAN, Aadhaar reference, phone, device or bank account. Staff roster, one-time invites, payee details, expense ledger, full application register.</a:t>
            </a:r>
          </a:p>
          <a:p>
            <a:pPr>
              <a:lnSpc>
                <a:spcPct val="115000"/>
              </a:lnSpc>
              <a:spcAft>
                <a:spcPts val="900"/>
              </a:spcAft>
            </a:pPr>
            <a:r>
              <a:rPr sz="1000" b="0">
                <a:solidFill>
                  <a:srgbClr val="5B6B7C"/>
                </a:solidFill>
                <a:latin typeface="Verdana"/>
              </a:rPr>
              <a:t>Data export is admin-only across the entire console — a deliberate governance decision, not a per-page setting.</a:t>
            </a:r>
          </a:p>
        </p:txBody>
      </p:sp>
      <p:sp>
        <p:nvSpPr>
          <p:cNvPr id="11" name="TextBox 10"/>
          <p:cNvSpPr txBox="1"/>
          <p:nvPr/>
        </p:nvSpPr>
        <p:spPr>
          <a:xfrm>
            <a:off x="658368" y="5742432"/>
            <a:ext cx="6501384" cy="274320"/>
          </a:xfrm>
          <a:prstGeom prst="rect">
            <a:avLst/>
          </a:prstGeom>
          <a:noFill/>
        </p:spPr>
        <p:txBody>
          <a:bodyPr wrap="square" anchor="t" lIns="0" rIns="0" tIns="0" bIns="0">
            <a:spAutoFit/>
          </a:bodyPr>
          <a:lstStyle/>
          <a:p>
            <a:pPr>
              <a:lnSpc>
                <a:spcPct val="115000"/>
              </a:lnSpc>
              <a:spcAft>
                <a:spcPts val="0"/>
              </a:spcAft>
            </a:pPr>
            <a:r>
              <a:rPr sz="1050" b="0">
                <a:solidFill>
                  <a:srgbClr val="5B6B7C"/>
                </a:solidFill>
                <a:latin typeface="Verdana"/>
              </a:rPr>
              <a:t>/staff/customers  ·  /staff/admin/*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HOW IT IS BUILT</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Architecture: boring on purpose</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Java 21 / Spring Boot 3 and Next.js 15, deployed on managed AWS. Nothing exotic to hire for.</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The shape</a:t>
            </a:r>
          </a:p>
          <a:p>
            <a:pPr>
              <a:lnSpc>
                <a:spcPct val="115000"/>
              </a:lnSpc>
              <a:spcAft>
                <a:spcPts val="1000"/>
              </a:spcAft>
            </a:pPr>
            <a:r>
              <a:rPr sz="1250" b="0">
                <a:solidFill>
                  <a:srgbClr val="10151B"/>
                </a:solidFill>
                <a:latin typeface="Verdana"/>
              </a:rPr>
              <a:t>•  Next.js front end with a backend-for-frontend layer — the browser never talks to the core API directly, and no secret ever reaches it.</a:t>
            </a:r>
          </a:p>
          <a:p>
            <a:pPr>
              <a:lnSpc>
                <a:spcPct val="115000"/>
              </a:lnSpc>
              <a:spcAft>
                <a:spcPts val="1000"/>
              </a:spcAft>
            </a:pPr>
            <a:r>
              <a:rPr sz="1250" b="0">
                <a:solidFill>
                  <a:srgbClr val="10151B"/>
                </a:solidFill>
                <a:latin typeface="Verdana"/>
              </a:rPr>
              <a:t>•  Spring Boot core, split into modules by domain: loan, KYC, verification, collections, notifications, IAM, storage.</a:t>
            </a:r>
          </a:p>
          <a:p>
            <a:pPr>
              <a:lnSpc>
                <a:spcPct val="115000"/>
              </a:lnSpc>
              <a:spcAft>
                <a:spcPts val="1000"/>
              </a:spcAft>
            </a:pPr>
            <a:r>
              <a:rPr sz="1250" b="0">
                <a:solidFill>
                  <a:srgbClr val="10151B"/>
                </a:solidFill>
                <a:latin typeface="Verdana"/>
              </a:rPr>
              <a:t>•  One bootable service. Postgres for state, S3 for documents, SSM for secrets.</a:t>
            </a:r>
          </a:p>
          <a:p>
            <a:pPr>
              <a:lnSpc>
                <a:spcPct val="115000"/>
              </a:lnSpc>
              <a:spcAft>
                <a:spcPts val="1000"/>
              </a:spcAft>
            </a:pPr>
            <a:r>
              <a:rPr sz="1250" b="0">
                <a:solidFill>
                  <a:srgbClr val="10151B"/>
                </a:solidFill>
                <a:latin typeface="Verdana"/>
              </a:rPr>
              <a:t>•  Deployed Vercel » ALB » ECS Fargate » RDS, with a written redeploy runbook and smoke tests.</a:t>
            </a:r>
          </a:p>
        </p:txBody>
      </p:sp>
      <p:sp>
        <p:nvSpPr>
          <p:cNvPr id="8" name="TextBox 7"/>
          <p:cNvSpPr txBox="1"/>
          <p:nvPr/>
        </p:nvSpPr>
        <p:spPr>
          <a:xfrm>
            <a:off x="6370167"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The decisions that will still hold in year three</a:t>
            </a:r>
          </a:p>
          <a:p>
            <a:pPr>
              <a:lnSpc>
                <a:spcPct val="115000"/>
              </a:lnSpc>
              <a:spcAft>
                <a:spcPts val="1000"/>
              </a:spcAft>
            </a:pPr>
            <a:r>
              <a:rPr sz="1250" b="0">
                <a:solidFill>
                  <a:srgbClr val="10151B"/>
                </a:solidFill>
                <a:latin typeface="Verdana"/>
              </a:rPr>
              <a:t>•  Authorisation lives in the services, off a signed token — not in middleware, where it silently stops covering new routes.</a:t>
            </a:r>
          </a:p>
          <a:p>
            <a:pPr>
              <a:lnSpc>
                <a:spcPct val="115000"/>
              </a:lnSpc>
              <a:spcAft>
                <a:spcPts val="1000"/>
              </a:spcAft>
            </a:pPr>
            <a:r>
              <a:rPr sz="1250" b="0">
                <a:solidFill>
                  <a:srgbClr val="10151B"/>
                </a:solidFill>
                <a:latin typeface="Verdana"/>
              </a:rPr>
              <a:t>•  Business rules live in one place each: one money engine, one flow service, one transition map.</a:t>
            </a:r>
          </a:p>
          <a:p>
            <a:pPr>
              <a:lnSpc>
                <a:spcPct val="115000"/>
              </a:lnSpc>
              <a:spcAft>
                <a:spcPts val="1000"/>
              </a:spcAft>
            </a:pPr>
            <a:r>
              <a:rPr sz="1250" b="0">
                <a:solidFill>
                  <a:srgbClr val="10151B"/>
                </a:solidFill>
                <a:latin typeface="Verdana"/>
              </a:rPr>
              <a:t>•  Schema changes are versioned migrations applied on boot. No hand-run DDL, no drift between environments.</a:t>
            </a:r>
          </a:p>
          <a:p>
            <a:pPr>
              <a:lnSpc>
                <a:spcPct val="115000"/>
              </a:lnSpc>
              <a:spcAft>
                <a:spcPts val="1000"/>
              </a:spcAft>
            </a:pPr>
            <a:r>
              <a:rPr sz="1250" b="0">
                <a:solidFill>
                  <a:srgbClr val="10151B"/>
                </a:solidFill>
                <a:latin typeface="Verdana"/>
              </a:rPr>
              <a:t>•  Verification providers sit behind one capability-routed port, so swapping or adding one touches no business logic.</a:t>
            </a:r>
          </a:p>
          <a:p>
            <a:pPr>
              <a:lnSpc>
                <a:spcPct val="115000"/>
              </a:lnSpc>
              <a:spcAft>
                <a:spcPts val="1000"/>
              </a:spcAft>
            </a:pPr>
            <a:r>
              <a:rPr sz="1050" b="0">
                <a:solidFill>
                  <a:srgbClr val="5B6B7C"/>
                </a:solidFill>
                <a:latin typeface="Verdana"/>
              </a:rPr>
              <a:t>A team that knows Spring and React can own this. That is a hiring decision as much as a technical one.</a:t>
            </a:r>
          </a:p>
        </p:txBody>
      </p:sp>
      <p:pic>
        <p:nvPicPr>
          <p:cNvPr id="9" name="Picture 8"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HOW IT IS BUILT</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Integrations already shipped and live-tested</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Each one sits behind an internal port, so a provider is a configuration change rather than a rewrite.</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56816"/>
          <a:ext cx="10874958" cy="3229356"/>
        </p:xfrm>
        <a:graphic>
          <a:graphicData uri="http://schemas.openxmlformats.org/drawingml/2006/table">
            <a:tbl>
              <a:tblPr firstRow="1" bandRow="1">
                <a:tableStyleId>{5C22544A-7EE6-4342-B048-85BDC9FD1C3A}</a:tableStyleId>
              </a:tblPr>
              <a:tblGrid>
                <a:gridCol w="2827489"/>
                <a:gridCol w="5437479"/>
                <a:gridCol w="2609990"/>
              </a:tblGrid>
              <a:tr h="310896">
                <a:tc>
                  <a:txBody>
                    <a:bodyPr/>
                    <a:lstStyle/>
                    <a:p>
                      <a:r>
                        <a:rPr sz="1100" b="1">
                          <a:solidFill>
                            <a:srgbClr val="FFFFFF"/>
                          </a:solidFill>
                          <a:latin typeface="Verdana"/>
                        </a:rPr>
                        <a:t>Capability</a:t>
                      </a:r>
                    </a:p>
                  </a:txBody>
                  <a:tcPr marL="82296" marR="82296" marT="27432" marB="27432">
                    <a:solidFill>
                      <a:srgbClr val="0C2540"/>
                    </a:solidFill>
                  </a:tcPr>
                </a:tc>
                <a:tc>
                  <a:txBody>
                    <a:bodyPr/>
                    <a:lstStyle/>
                    <a:p>
                      <a:r>
                        <a:rPr sz="1100" b="1">
                          <a:solidFill>
                            <a:srgbClr val="FFFFFF"/>
                          </a:solidFill>
                          <a:latin typeface="Verdana"/>
                        </a:rPr>
                        <a:t>How it is wired</a:t>
                      </a:r>
                    </a:p>
                  </a:txBody>
                  <a:tcPr marL="82296" marR="82296" marT="27432" marB="27432">
                    <a:solidFill>
                      <a:srgbClr val="0C2540"/>
                    </a:solidFill>
                  </a:tcPr>
                </a:tc>
                <a:tc>
                  <a:txBody>
                    <a:bodyPr/>
                    <a:lstStyle/>
                    <a:p>
                      <a:r>
                        <a:rPr sz="1100" b="1">
                          <a:solidFill>
                            <a:srgbClr val="FFFFFF"/>
                          </a:solidFill>
                          <a:latin typeface="Verdana"/>
                        </a:rPr>
                        <a:t>State</a:t>
                      </a:r>
                    </a:p>
                  </a:txBody>
                  <a:tcPr marL="82296" marR="82296" marT="27432" marB="27432">
                    <a:solidFill>
                      <a:srgbClr val="0C2540"/>
                    </a:solidFill>
                  </a:tcPr>
                </a:tc>
              </a:tr>
              <a:tr h="454660">
                <a:tc>
                  <a:txBody>
                    <a:bodyPr/>
                    <a:lstStyle/>
                    <a:p>
                      <a:r>
                        <a:rPr sz="1100" b="0">
                          <a:solidFill>
                            <a:srgbClr val="10151B"/>
                          </a:solidFill>
                          <a:latin typeface="Verdana"/>
                        </a:rPr>
                        <a:t>PAN, bureau, email</a:t>
                      </a:r>
                    </a:p>
                  </a:txBody>
                  <a:tcPr marL="82296" marR="82296" marT="27432" marB="27432">
                    <a:solidFill>
                      <a:srgbClr val="FFFFFF"/>
                    </a:solidFill>
                  </a:tcPr>
                </a:tc>
                <a:tc>
                  <a:txBody>
                    <a:bodyPr/>
                    <a:lstStyle/>
                    <a:p>
                      <a:r>
                        <a:rPr sz="1100" b="0">
                          <a:solidFill>
                            <a:srgbClr val="10151B"/>
                          </a:solidFill>
                          <a:latin typeface="Verdana"/>
                        </a:rPr>
                        <a:t>Primary provider with an automatic second-provider fallback per capability</a:t>
                      </a:r>
                    </a:p>
                  </a:txBody>
                  <a:tcPr marL="82296" marR="82296" marT="27432" marB="27432">
                    <a:solidFill>
                      <a:srgbClr val="FFFFFF"/>
                    </a:solidFill>
                  </a:tcPr>
                </a:tc>
                <a:tc>
                  <a:txBody>
                    <a:bodyPr/>
                    <a:lstStyle/>
                    <a:p>
                      <a:r>
                        <a:rPr sz="1100" b="0">
                          <a:solidFill>
                            <a:srgbClr val="10151B"/>
                          </a:solidFill>
                          <a:latin typeface="Verdana"/>
                        </a:rPr>
                        <a:t>Live-tested</a:t>
                      </a:r>
                    </a:p>
                  </a:txBody>
                  <a:tcPr marL="82296" marR="82296" marT="27432" marB="27432">
                    <a:solidFill>
                      <a:srgbClr val="FFFFFF"/>
                    </a:solidFill>
                  </a:tcPr>
                </a:tc>
              </a:tr>
              <a:tr h="310896">
                <a:tc>
                  <a:txBody>
                    <a:bodyPr/>
                    <a:lstStyle/>
                    <a:p>
                      <a:r>
                        <a:rPr sz="1100" b="0">
                          <a:solidFill>
                            <a:srgbClr val="10151B"/>
                          </a:solidFill>
                          <a:latin typeface="Verdana"/>
                        </a:rPr>
                        <a:t>Aadhaar (DigiLocker)</a:t>
                      </a:r>
                    </a:p>
                  </a:txBody>
                  <a:tcPr marL="82296" marR="82296" marT="27432" marB="27432">
                    <a:solidFill>
                      <a:srgbClr val="FFFFFF"/>
                    </a:solidFill>
                  </a:tcPr>
                </a:tc>
                <a:tc>
                  <a:txBody>
                    <a:bodyPr/>
                    <a:lstStyle/>
                    <a:p>
                      <a:r>
                        <a:rPr sz="1100" b="0">
                          <a:solidFill>
                            <a:srgbClr val="10151B"/>
                          </a:solidFill>
                          <a:latin typeface="Verdana"/>
                        </a:rPr>
                        <a:t>Consent hand-off, signature-validated, Aadhaar photo ingested to storage</a:t>
                      </a:r>
                    </a:p>
                  </a:txBody>
                  <a:tcPr marL="82296" marR="82296" marT="27432" marB="27432">
                    <a:solidFill>
                      <a:srgbClr val="FFFFFF"/>
                    </a:solidFill>
                  </a:tcPr>
                </a:tc>
                <a:tc>
                  <a:txBody>
                    <a:bodyPr/>
                    <a:lstStyle/>
                    <a:p>
                      <a:r>
                        <a:rPr sz="1100" b="0">
                          <a:solidFill>
                            <a:srgbClr val="10151B"/>
                          </a:solidFill>
                          <a:latin typeface="Verdana"/>
                        </a:rPr>
                        <a:t>Live-tested</a:t>
                      </a:r>
                    </a:p>
                  </a:txBody>
                  <a:tcPr marL="82296" marR="82296" marT="27432" marB="27432">
                    <a:solidFill>
                      <a:srgbClr val="FFFFFF"/>
                    </a:solidFill>
                  </a:tcPr>
                </a:tc>
              </a:tr>
              <a:tr h="454660">
                <a:tc>
                  <a:txBody>
                    <a:bodyPr/>
                    <a:lstStyle/>
                    <a:p>
                      <a:r>
                        <a:rPr sz="1100" b="0">
                          <a:solidFill>
                            <a:srgbClr val="10151B"/>
                          </a:solidFill>
                          <a:latin typeface="Verdana"/>
                        </a:rPr>
                        <a:t>Selfie liveness</a:t>
                      </a:r>
                    </a:p>
                  </a:txBody>
                  <a:tcPr marL="82296" marR="82296" marT="27432" marB="27432">
                    <a:solidFill>
                      <a:srgbClr val="FFFFFF"/>
                    </a:solidFill>
                  </a:tcPr>
                </a:tc>
                <a:tc>
                  <a:txBody>
                    <a:bodyPr/>
                    <a:lstStyle/>
                    <a:p>
                      <a:r>
                        <a:rPr sz="1100" b="0">
                          <a:solidFill>
                            <a:srgbClr val="10151B"/>
                          </a:solidFill>
                          <a:latin typeface="Verdana"/>
                        </a:rPr>
                        <a:t>Interactive video journey, 1:1 match to the Aadhaar photo, face-match fallback</a:t>
                      </a:r>
                    </a:p>
                  </a:txBody>
                  <a:tcPr marL="82296" marR="82296" marT="27432" marB="27432">
                    <a:solidFill>
                      <a:srgbClr val="FFFFFF"/>
                    </a:solidFill>
                  </a:tcPr>
                </a:tc>
                <a:tc>
                  <a:txBody>
                    <a:bodyPr/>
                    <a:lstStyle/>
                    <a:p>
                      <a:r>
                        <a:rPr sz="1100" b="0">
                          <a:solidFill>
                            <a:srgbClr val="10151B"/>
                          </a:solidFill>
                          <a:latin typeface="Verdana"/>
                        </a:rPr>
                        <a:t>Live-tested</a:t>
                      </a:r>
                    </a:p>
                  </a:txBody>
                  <a:tcPr marL="82296" marR="82296" marT="27432" marB="27432">
                    <a:solidFill>
                      <a:srgbClr val="FFFFFF"/>
                    </a:solidFill>
                  </a:tcPr>
                </a:tc>
              </a:tr>
              <a:tr h="310896">
                <a:tc>
                  <a:txBody>
                    <a:bodyPr/>
                    <a:lstStyle/>
                    <a:p>
                      <a:r>
                        <a:rPr sz="1100" b="0">
                          <a:solidFill>
                            <a:srgbClr val="10151B"/>
                          </a:solidFill>
                          <a:latin typeface="Verdana"/>
                        </a:rPr>
                        <a:t>Penny-drop</a:t>
                      </a:r>
                    </a:p>
                  </a:txBody>
                  <a:tcPr marL="82296" marR="82296" marT="27432" marB="27432">
                    <a:solidFill>
                      <a:srgbClr val="FFFFFF"/>
                    </a:solidFill>
                  </a:tcPr>
                </a:tc>
                <a:tc>
                  <a:txBody>
                    <a:bodyPr/>
                    <a:lstStyle/>
                    <a:p>
                      <a:r>
                        <a:rPr sz="1100" b="0">
                          <a:solidFill>
                            <a:srgbClr val="10151B"/>
                          </a:solidFill>
                          <a:latin typeface="Verdana"/>
                        </a:rPr>
                        <a:t>Bank account ownership confirmed before any disbursal</a:t>
                      </a:r>
                    </a:p>
                  </a:txBody>
                  <a:tcPr marL="82296" marR="82296" marT="27432" marB="27432">
                    <a:solidFill>
                      <a:srgbClr val="FFFFFF"/>
                    </a:solidFill>
                  </a:tcPr>
                </a:tc>
                <a:tc>
                  <a:txBody>
                    <a:bodyPr/>
                    <a:lstStyle/>
                    <a:p>
                      <a:r>
                        <a:rPr sz="1100" b="0">
                          <a:solidFill>
                            <a:srgbClr val="10151B"/>
                          </a:solidFill>
                          <a:latin typeface="Verdana"/>
                        </a:rPr>
                        <a:t>Live-tested</a:t>
                      </a:r>
                    </a:p>
                  </a:txBody>
                  <a:tcPr marL="82296" marR="82296" marT="27432" marB="27432">
                    <a:solidFill>
                      <a:srgbClr val="FFFFFF"/>
                    </a:solidFill>
                  </a:tcPr>
                </a:tc>
              </a:tr>
              <a:tr h="310896">
                <a:tc>
                  <a:txBody>
                    <a:bodyPr/>
                    <a:lstStyle/>
                    <a:p>
                      <a:r>
                        <a:rPr sz="1100" b="0">
                          <a:solidFill>
                            <a:srgbClr val="10151B"/>
                          </a:solidFill>
                          <a:latin typeface="Verdana"/>
                        </a:rPr>
                        <a:t>Address</a:t>
                      </a:r>
                    </a:p>
                  </a:txBody>
                  <a:tcPr marL="82296" marR="82296" marT="27432" marB="27432">
                    <a:solidFill>
                      <a:srgbClr val="FFFFFF"/>
                    </a:solidFill>
                  </a:tcPr>
                </a:tc>
                <a:tc>
                  <a:txBody>
                    <a:bodyPr/>
                    <a:lstStyle/>
                    <a:p>
                      <a:r>
                        <a:rPr sz="1100" b="0">
                          <a:solidFill>
                            <a:srgbClr val="10151B"/>
                          </a:solidFill>
                          <a:latin typeface="Verdana"/>
                        </a:rPr>
                        <a:t>Provider address-verification API</a:t>
                      </a:r>
                    </a:p>
                  </a:txBody>
                  <a:tcPr marL="82296" marR="82296" marT="27432" marB="27432">
                    <a:solidFill>
                      <a:srgbClr val="FFFFFF"/>
                    </a:solidFill>
                  </a:tcPr>
                </a:tc>
                <a:tc>
                  <a:txBody>
                    <a:bodyPr/>
                    <a:lstStyle/>
                    <a:p>
                      <a:r>
                        <a:rPr sz="1100" b="0">
                          <a:solidFill>
                            <a:srgbClr val="10151B"/>
                          </a:solidFill>
                          <a:latin typeface="Verdana"/>
                        </a:rPr>
                        <a:t>Live-tested</a:t>
                      </a:r>
                    </a:p>
                  </a:txBody>
                  <a:tcPr marL="82296" marR="82296" marT="27432" marB="27432">
                    <a:solidFill>
                      <a:srgbClr val="FFFFFF"/>
                    </a:solidFill>
                  </a:tcPr>
                </a:tc>
              </a:tr>
              <a:tr h="310896">
                <a:tc>
                  <a:txBody>
                    <a:bodyPr/>
                    <a:lstStyle/>
                    <a:p>
                      <a:r>
                        <a:rPr sz="1100" b="0">
                          <a:solidFill>
                            <a:srgbClr val="10151B"/>
                          </a:solidFill>
                          <a:latin typeface="Verdana"/>
                        </a:rPr>
                        <a:t>Email delivery</a:t>
                      </a:r>
                    </a:p>
                  </a:txBody>
                  <a:tcPr marL="82296" marR="82296" marT="27432" marB="27432">
                    <a:solidFill>
                      <a:srgbClr val="FFFFFF"/>
                    </a:solidFill>
                  </a:tcPr>
                </a:tc>
                <a:tc>
                  <a:txBody>
                    <a:bodyPr/>
                    <a:lstStyle/>
                    <a:p>
                      <a:r>
                        <a:rPr sz="1100" b="0">
                          <a:solidFill>
                            <a:srgbClr val="10151B"/>
                          </a:solidFill>
                          <a:latin typeface="Verdana"/>
                        </a:rPr>
                        <a:t>AWS SES, branded HTML, bounce and complaint feedback auto-suppressed</a:t>
                      </a:r>
                    </a:p>
                  </a:txBody>
                  <a:tcPr marL="82296" marR="82296" marT="27432" marB="27432">
                    <a:solidFill>
                      <a:srgbClr val="FFFFFF"/>
                    </a:solidFill>
                  </a:tcPr>
                </a:tc>
                <a:tc>
                  <a:txBody>
                    <a:bodyPr/>
                    <a:lstStyle/>
                    <a:p>
                      <a:r>
                        <a:rPr sz="1100" b="0">
                          <a:solidFill>
                            <a:srgbClr val="10151B"/>
                          </a:solidFill>
                          <a:latin typeface="Verdana"/>
                        </a:rPr>
                        <a:t>Live, sandbox</a:t>
                      </a:r>
                    </a:p>
                  </a:txBody>
                  <a:tcPr marL="82296" marR="82296" marT="27432" marB="27432">
                    <a:solidFill>
                      <a:srgbClr val="FFFFFF"/>
                    </a:solidFill>
                  </a:tcPr>
                </a:tc>
              </a:tr>
              <a:tr h="454660">
                <a:tc>
                  <a:txBody>
                    <a:bodyPr/>
                    <a:lstStyle/>
                    <a:p>
                      <a:r>
                        <a:rPr sz="1100" b="0">
                          <a:solidFill>
                            <a:srgbClr val="10151B"/>
                          </a:solidFill>
                          <a:latin typeface="Verdana"/>
                        </a:rPr>
                        <a:t>SMS</a:t>
                      </a:r>
                    </a:p>
                  </a:txBody>
                  <a:tcPr marL="82296" marR="82296" marT="27432" marB="27432">
                    <a:solidFill>
                      <a:srgbClr val="FFFFFF"/>
                    </a:solidFill>
                  </a:tcPr>
                </a:tc>
                <a:tc>
                  <a:txBody>
                    <a:bodyPr/>
                    <a:lstStyle/>
                    <a:p>
                      <a:r>
                        <a:rPr sz="1100" b="0">
                          <a:solidFill>
                            <a:srgbClr val="10151B"/>
                          </a:solidFill>
                          <a:latin typeface="Verdana"/>
                        </a:rPr>
                        <a:t>DLT-compliant gateway; 15 templates registered, entity and sender approved</a:t>
                      </a:r>
                    </a:p>
                  </a:txBody>
                  <a:tcPr marL="82296" marR="82296" marT="27432" marB="27432">
                    <a:solidFill>
                      <a:srgbClr val="FFFFFF"/>
                    </a:solidFill>
                  </a:tcPr>
                </a:tc>
                <a:tc>
                  <a:txBody>
                    <a:bodyPr/>
                    <a:lstStyle/>
                    <a:p>
                      <a:r>
                        <a:rPr sz="1100" b="0">
                          <a:solidFill>
                            <a:srgbClr val="10151B"/>
                          </a:solidFill>
                          <a:latin typeface="Verdana"/>
                        </a:rPr>
                        <a:t>Templates in review</a:t>
                      </a:r>
                    </a:p>
                  </a:txBody>
                  <a:tcPr marL="82296" marR="82296" marT="27432" marB="27432">
                    <a:solidFill>
                      <a:srgbClr val="FFFFFF"/>
                    </a:solidFill>
                  </a:tcPr>
                </a:tc>
              </a:tr>
              <a:tr h="310896">
                <a:tc>
                  <a:txBody>
                    <a:bodyPr/>
                    <a:lstStyle/>
                    <a:p>
                      <a:r>
                        <a:rPr sz="1100" b="0">
                          <a:solidFill>
                            <a:srgbClr val="10151B"/>
                          </a:solidFill>
                          <a:latin typeface="Verdana"/>
                        </a:rPr>
                        <a:t>Documents</a:t>
                      </a:r>
                    </a:p>
                  </a:txBody>
                  <a:tcPr marL="82296" marR="82296" marT="27432" marB="27432">
                    <a:solidFill>
                      <a:srgbClr val="FFFFFF"/>
                    </a:solidFill>
                  </a:tcPr>
                </a:tc>
                <a:tc>
                  <a:txBody>
                    <a:bodyPr/>
                    <a:lstStyle/>
                    <a:p>
                      <a:r>
                        <a:rPr sz="1100" b="0">
                          <a:solidFill>
                            <a:srgbClr val="10151B"/>
                          </a:solidFill>
                          <a:latin typeface="Verdana"/>
                        </a:rPr>
                        <a:t>S3 with presigned access; generated agreements and credit briefs stored</a:t>
                      </a:r>
                    </a:p>
                  </a:txBody>
                  <a:tcPr marL="82296" marR="82296" marT="27432" marB="27432">
                    <a:solidFill>
                      <a:srgbClr val="FFFFFF"/>
                    </a:solidFill>
                  </a:tcPr>
                </a:tc>
                <a:tc>
                  <a:txBody>
                    <a:bodyPr/>
                    <a:lstStyle/>
                    <a:p>
                      <a:r>
                        <a:rPr sz="1100" b="0">
                          <a:solidFill>
                            <a:srgbClr val="10151B"/>
                          </a:solidFill>
                          <a:latin typeface="Verdana"/>
                        </a:rPr>
                        <a:t>Live</a:t>
                      </a:r>
                    </a:p>
                  </a:txBody>
                  <a:tcPr marL="82296" marR="82296" marT="27432" marB="27432">
                    <a:solidFill>
                      <a:srgbClr val="FFFFFF"/>
                    </a:solidFill>
                  </a:tcPr>
                </a:tc>
              </a:tr>
            </a:tbl>
          </a:graphicData>
        </a:graphic>
      </p:graphicFrame>
      <p:sp>
        <p:nvSpPr>
          <p:cNvPr id="8" name="TextBox 7"/>
          <p:cNvSpPr txBox="1"/>
          <p:nvPr/>
        </p:nvSpPr>
        <p:spPr>
          <a:xfrm>
            <a:off x="658368" y="5350764"/>
            <a:ext cx="10874959" cy="1324356"/>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The bounce loop is worth a sentence: a hard bounce or a complaint adds that address to a suppression list automatically, and the sender skips it forever after. Sender reputation is protected without anyone watching a dashboard.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HOW IT IS BUILT</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The engineering decisions that keep the numbers honest</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Money and audit are where lending systems quietly rot. These four choices are why this one does not.</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Integer paise, everywhere</a:t>
            </a:r>
          </a:p>
          <a:p>
            <a:pPr>
              <a:lnSpc>
                <a:spcPct val="115000"/>
              </a:lnSpc>
              <a:spcAft>
                <a:spcPts val="1000"/>
              </a:spcAft>
            </a:pPr>
            <a:r>
              <a:rPr sz="1250" b="0">
                <a:solidFill>
                  <a:srgbClr val="10151B"/>
                </a:solidFill>
                <a:latin typeface="Verdana"/>
              </a:rPr>
              <a:t>•  Every amount is a whole number of paise with explicit rounding. No floating point touches money at any layer, front end included.</a:t>
            </a:r>
          </a:p>
          <a:p>
            <a:pPr>
              <a:lnSpc>
                <a:spcPct val="115000"/>
              </a:lnSpc>
              <a:spcAft>
                <a:spcPts val="500"/>
              </a:spcAft>
            </a:pPr>
            <a:r>
              <a:rPr sz="1350" b="1">
                <a:solidFill>
                  <a:srgbClr val="0C2540"/>
                </a:solidFill>
                <a:latin typeface="Verdana"/>
              </a:rPr>
              <a:t>One balance, computed on read</a:t>
            </a:r>
          </a:p>
          <a:p>
            <a:pPr>
              <a:lnSpc>
                <a:spcPct val="115000"/>
              </a:lnSpc>
              <a:spcAft>
                <a:spcPts val="1000"/>
              </a:spcAft>
            </a:pPr>
            <a:r>
              <a:rPr sz="1250" b="0">
                <a:solidFill>
                  <a:srgbClr val="10151B"/>
                </a:solidFill>
                <a:latin typeface="Verdana"/>
              </a:rPr>
              <a:t>•  Outstanding is derived every time from principal, interest to date, capped penalty and verified payments — the stored column is only a cache.</a:t>
            </a:r>
          </a:p>
          <a:p>
            <a:pPr>
              <a:lnSpc>
                <a:spcPct val="115000"/>
              </a:lnSpc>
              <a:spcAft>
                <a:spcPts val="1000"/>
              </a:spcAft>
            </a:pPr>
            <a:r>
              <a:rPr sz="1250" b="0">
                <a:solidFill>
                  <a:srgbClr val="10151B"/>
                </a:solidFill>
                <a:latin typeface="Verdana"/>
              </a:rPr>
              <a:t>•  Every surface that shows 'amount owed' calls the same function, so the borrower's screen, the collections queue and the ledger can never disagree.</a:t>
            </a:r>
          </a:p>
          <a:p>
            <a:pPr>
              <a:lnSpc>
                <a:spcPct val="115000"/>
              </a:lnSpc>
              <a:spcAft>
                <a:spcPts val="1000"/>
              </a:spcAft>
            </a:pPr>
            <a:r>
              <a:rPr sz="1250" b="0">
                <a:solidFill>
                  <a:srgbClr val="10151B"/>
                </a:solidFill>
                <a:latin typeface="Verdana"/>
              </a:rPr>
              <a:t>•  A loan closes only when that penalty-aware balance truly reaches zero.</a:t>
            </a:r>
          </a:p>
        </p:txBody>
      </p:sp>
      <p:sp>
        <p:nvSpPr>
          <p:cNvPr id="8" name="TextBox 7"/>
          <p:cNvSpPr txBox="1"/>
          <p:nvPr/>
        </p:nvSpPr>
        <p:spPr>
          <a:xfrm>
            <a:off x="6370167"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Append-only audit as a load-bearing structure</a:t>
            </a:r>
          </a:p>
          <a:p>
            <a:pPr>
              <a:lnSpc>
                <a:spcPct val="115000"/>
              </a:lnSpc>
              <a:spcAft>
                <a:spcPts val="1000"/>
              </a:spcAft>
            </a:pPr>
            <a:r>
              <a:rPr sz="1250" b="0">
                <a:solidFill>
                  <a:srgbClr val="10151B"/>
                </a:solidFill>
                <a:latin typeface="Verdana"/>
              </a:rPr>
              <a:t>•  The event log is not a report; it is the input to the separation-of-duties check. It cannot be stale, because the control reads it.</a:t>
            </a:r>
          </a:p>
          <a:p>
            <a:pPr>
              <a:lnSpc>
                <a:spcPct val="115000"/>
              </a:lnSpc>
              <a:spcAft>
                <a:spcPts val="500"/>
              </a:spcAft>
            </a:pPr>
            <a:r>
              <a:rPr sz="1350" b="1">
                <a:solidFill>
                  <a:srgbClr val="0C2540"/>
                </a:solidFill>
                <a:latin typeface="Verdana"/>
              </a:rPr>
              <a:t>Notifications that cannot break a loan</a:t>
            </a:r>
          </a:p>
          <a:p>
            <a:pPr>
              <a:lnSpc>
                <a:spcPct val="115000"/>
              </a:lnSpc>
              <a:spcAft>
                <a:spcPts val="1000"/>
              </a:spcAft>
            </a:pPr>
            <a:r>
              <a:rPr sz="1250" b="0">
                <a:solidFill>
                  <a:srgbClr val="10151B"/>
                </a:solidFill>
                <a:latin typeface="Verdana"/>
              </a:rPr>
              <a:t>•  Domain code publishes an event and commits. Delivery happens after, asynchronously. A dead SMS gateway can never fail a disbursal.</a:t>
            </a:r>
          </a:p>
          <a:p>
            <a:pPr>
              <a:lnSpc>
                <a:spcPct val="115000"/>
              </a:lnSpc>
              <a:spcAft>
                <a:spcPts val="1000"/>
              </a:spcAft>
            </a:pPr>
            <a:r>
              <a:rPr sz="1250" b="0">
                <a:solidFill>
                  <a:srgbClr val="10151B"/>
                </a:solidFill>
                <a:latin typeface="Verdana"/>
              </a:rPr>
              <a:t>•  In-app, SMS and email from one engine, with per-borrower preferences honoured.</a:t>
            </a:r>
          </a:p>
          <a:p>
            <a:pPr>
              <a:lnSpc>
                <a:spcPct val="115000"/>
              </a:lnSpc>
              <a:spcAft>
                <a:spcPts val="1000"/>
              </a:spcAft>
            </a:pPr>
            <a:r>
              <a:rPr sz="1050" b="0">
                <a:solidFill>
                  <a:srgbClr val="5B6B7C"/>
                </a:solidFill>
                <a:latin typeface="Verdana"/>
              </a:rPr>
              <a:t>Plus database-backed feature flags, so a feature can be switched off in production without a redeploy.</a:t>
            </a:r>
          </a:p>
        </p:txBody>
      </p:sp>
      <p:pic>
        <p:nvPicPr>
          <p:cNvPr id="9" name="Picture 8"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HOW IT IS HANDED OVER</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What ships alongside the software</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A platform you cannot operate or verify is not delivered. This is what makes it yours.</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51 classes</a:t>
            </a:r>
          </a:p>
          <a:p>
            <a:pPr>
              <a:lnSpc>
                <a:spcPct val="115000"/>
              </a:lnSpc>
              <a:spcAft>
                <a:spcPts val="0"/>
              </a:spcAft>
            </a:pPr>
            <a:r>
              <a:rPr sz="1050" b="0">
                <a:solidFill>
                  <a:srgbClr val="5B6B7C"/>
                </a:solidFill>
                <a:latin typeface="Verdana"/>
              </a:rPr>
              <a:t>380+ backend test methods covering the money engine, the flow rules and SoD.</a:t>
            </a:r>
          </a:p>
        </p:txBody>
      </p:sp>
      <p:sp>
        <p:nvSpPr>
          <p:cNvPr id="9" name="Rounded Rectangle 8"/>
          <p:cNvSpPr/>
          <p:nvPr/>
        </p:nvSpPr>
        <p:spPr>
          <a:xfrm>
            <a:off x="344568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027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Integration suite</a:t>
            </a:r>
          </a:p>
          <a:p>
            <a:pPr>
              <a:lnSpc>
                <a:spcPct val="115000"/>
              </a:lnSpc>
              <a:spcAft>
                <a:spcPts val="0"/>
              </a:spcAft>
            </a:pPr>
            <a:r>
              <a:rPr sz="1050" b="0">
                <a:solidFill>
                  <a:srgbClr val="5B6B7C"/>
                </a:solidFill>
                <a:latin typeface="Verdana"/>
              </a:rPr>
              <a:t>The full lifecycle exercised against a real Postgres, in a container.</a:t>
            </a:r>
          </a:p>
        </p:txBody>
      </p:sp>
      <p:sp>
        <p:nvSpPr>
          <p:cNvPr id="11" name="Rounded Rectangle 10"/>
          <p:cNvSpPr/>
          <p:nvPr/>
        </p:nvSpPr>
        <p:spPr>
          <a:xfrm>
            <a:off x="623300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7 e2e specs</a:t>
            </a:r>
          </a:p>
          <a:p>
            <a:pPr>
              <a:lnSpc>
                <a:spcPct val="115000"/>
              </a:lnSpc>
              <a:spcAft>
                <a:spcPts val="0"/>
              </a:spcAft>
            </a:pPr>
            <a:r>
              <a:rPr sz="1050" b="0">
                <a:solidFill>
                  <a:srgbClr val="5B6B7C"/>
                </a:solidFill>
                <a:latin typeface="Verdana"/>
              </a:rPr>
              <a:t>Playwright over auth, RBAC, onboarding, repay, staff console and admin.</a:t>
            </a:r>
          </a:p>
        </p:txBody>
      </p:sp>
      <p:sp>
        <p:nvSpPr>
          <p:cNvPr id="13" name="Rounded Rectangle 12"/>
          <p:cNvSpPr/>
          <p:nvPr/>
        </p:nvSpPr>
        <p:spPr>
          <a:xfrm>
            <a:off x="9020327" y="1956816"/>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4919" y="2103120"/>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CI on every push</a:t>
            </a:r>
          </a:p>
          <a:p>
            <a:pPr>
              <a:lnSpc>
                <a:spcPct val="115000"/>
              </a:lnSpc>
              <a:spcAft>
                <a:spcPts val="0"/>
              </a:spcAft>
            </a:pPr>
            <a:r>
              <a:rPr sz="1050" b="0">
                <a:solidFill>
                  <a:srgbClr val="5B6B7C"/>
                </a:solidFill>
                <a:latin typeface="Verdana"/>
              </a:rPr>
              <a:t>Build, tests and type-checks run automatically. Nothing merges unverified.</a:t>
            </a:r>
          </a:p>
        </p:txBody>
      </p:sp>
      <p:sp>
        <p:nvSpPr>
          <p:cNvPr id="15" name="Rounded Rectangle 14"/>
          <p:cNvSpPr/>
          <p:nvPr/>
        </p:nvSpPr>
        <p:spPr>
          <a:xfrm>
            <a:off x="658368"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Seeded demo env</a:t>
            </a:r>
          </a:p>
          <a:p>
            <a:pPr>
              <a:lnSpc>
                <a:spcPct val="115000"/>
              </a:lnSpc>
              <a:spcAft>
                <a:spcPts val="0"/>
              </a:spcAft>
            </a:pPr>
            <a:r>
              <a:rPr sz="1050" b="0">
                <a:solidFill>
                  <a:srgbClr val="5B6B7C"/>
                </a:solidFill>
                <a:latin typeface="Verdana"/>
              </a:rPr>
              <a:t>One command: 49 applications at every stage, plus collections and back office.</a:t>
            </a:r>
          </a:p>
        </p:txBody>
      </p:sp>
      <p:sp>
        <p:nvSpPr>
          <p:cNvPr id="17" name="Rounded Rectangle 16"/>
          <p:cNvSpPr/>
          <p:nvPr/>
        </p:nvSpPr>
        <p:spPr>
          <a:xfrm>
            <a:off x="344568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027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Onboarding doc</a:t>
            </a:r>
          </a:p>
          <a:p>
            <a:pPr>
              <a:lnSpc>
                <a:spcPct val="115000"/>
              </a:lnSpc>
              <a:spcAft>
                <a:spcPts val="0"/>
              </a:spcAft>
            </a:pPr>
            <a:r>
              <a:rPr sz="1050" b="0">
                <a:solidFill>
                  <a:srgbClr val="5B6B7C"/>
                </a:solidFill>
                <a:latin typeface="Verdana"/>
              </a:rPr>
              <a:t>A single document that takes a new engineer from clone to running stack.</a:t>
            </a:r>
          </a:p>
        </p:txBody>
      </p:sp>
      <p:sp>
        <p:nvSpPr>
          <p:cNvPr id="19" name="Rounded Rectangle 18"/>
          <p:cNvSpPr/>
          <p:nvPr/>
        </p:nvSpPr>
        <p:spPr>
          <a:xfrm>
            <a:off x="623300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Deploy runbook</a:t>
            </a:r>
          </a:p>
          <a:p>
            <a:pPr>
              <a:lnSpc>
                <a:spcPct val="115000"/>
              </a:lnSpc>
              <a:spcAft>
                <a:spcPts val="0"/>
              </a:spcAft>
            </a:pPr>
            <a:r>
              <a:rPr sz="1050" b="0">
                <a:solidFill>
                  <a:srgbClr val="5B6B7C"/>
                </a:solidFill>
                <a:latin typeface="Verdana"/>
              </a:rPr>
              <a:t>Every cloud resource, the redeploy recipe and smoke tests, written down.</a:t>
            </a:r>
          </a:p>
        </p:txBody>
      </p:sp>
      <p:sp>
        <p:nvSpPr>
          <p:cNvPr id="21" name="Rounded Rectangle 20"/>
          <p:cNvSpPr/>
          <p:nvPr/>
        </p:nvSpPr>
        <p:spPr>
          <a:xfrm>
            <a:off x="9020327" y="3639312"/>
            <a:ext cx="2512999" cy="1481328"/>
          </a:xfrm>
          <a:prstGeom prst="roundRect">
            <a:avLst>
              <a:gd name="adj" fmla="val 10000"/>
            </a:avLst>
          </a:prstGeom>
          <a:solidFill>
            <a:srgbClr val="FFFFFF"/>
          </a:solidFill>
          <a:ln w="15875">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4919" y="3785616"/>
            <a:ext cx="2183815" cy="1207008"/>
          </a:xfrm>
          <a:prstGeom prst="rect">
            <a:avLst/>
          </a:prstGeom>
          <a:noFill/>
        </p:spPr>
        <p:txBody>
          <a:bodyPr wrap="square" anchor="t" lIns="0" rIns="0" tIns="0" bIns="0">
            <a:spAutoFit/>
          </a:bodyPr>
          <a:lstStyle/>
          <a:p>
            <a:pPr>
              <a:lnSpc>
                <a:spcPct val="115000"/>
              </a:lnSpc>
              <a:spcAft>
                <a:spcPts val="400"/>
              </a:spcAft>
            </a:pPr>
            <a:r>
              <a:rPr sz="2200" b="1">
                <a:solidFill>
                  <a:srgbClr val="0C2540"/>
                </a:solidFill>
                <a:latin typeface="Verdana"/>
              </a:rPr>
              <a:t>Walkthrough script</a:t>
            </a:r>
          </a:p>
          <a:p>
            <a:pPr>
              <a:lnSpc>
                <a:spcPct val="115000"/>
              </a:lnSpc>
              <a:spcAft>
                <a:spcPts val="0"/>
              </a:spcAft>
            </a:pPr>
            <a:r>
              <a:rPr sz="1050" b="0">
                <a:solidFill>
                  <a:srgbClr val="5B6B7C"/>
                </a:solidFill>
                <a:latin typeface="Verdana"/>
              </a:rPr>
              <a:t>A chaptered demo script — your sales team can run this pitch without us.</a:t>
            </a:r>
          </a:p>
        </p:txBody>
      </p:sp>
      <p:sp>
        <p:nvSpPr>
          <p:cNvPr id="23" name="TextBox 22"/>
          <p:cNvSpPr txBox="1"/>
          <p:nvPr/>
        </p:nvSpPr>
        <p:spPr>
          <a:xfrm>
            <a:off x="658368" y="5340096"/>
            <a:ext cx="10874959" cy="1335024"/>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The last one is not a throwaway: we wrote the script that a non-technical presenter uses to demo the product, including which screens look empty and why. Documentation is part of the deliverable, not a follow-up invoice.</a:t>
            </a:r>
          </a:p>
        </p:txBody>
      </p:sp>
      <p:pic>
        <p:nvPicPr>
          <p:cNvPr id="24" name="Picture 23"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STRAIGHT TALK</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What is not finished — and what it takes</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We would rather you hear this from us in slide 25 than find it in week three.</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In flight, waiting on third parties</a:t>
            </a:r>
          </a:p>
          <a:p>
            <a:pPr>
              <a:lnSpc>
                <a:spcPct val="115000"/>
              </a:lnSpc>
              <a:spcAft>
                <a:spcPts val="1000"/>
              </a:spcAft>
            </a:pPr>
            <a:r>
              <a:rPr sz="1250" b="0">
                <a:solidFill>
                  <a:srgbClr val="10151B"/>
                </a:solidFill>
                <a:latin typeface="Verdana"/>
              </a:rPr>
              <a:t>•  SMS templates: entity and sender are approved; a re-filed template batch is in operator review. Until they clear, transactional SMS is off. Not code — telecom queue time.</a:t>
            </a:r>
          </a:p>
          <a:p>
            <a:pPr>
              <a:lnSpc>
                <a:spcPct val="115000"/>
              </a:lnSpc>
              <a:spcAft>
                <a:spcPts val="1000"/>
              </a:spcAft>
            </a:pPr>
            <a:r>
              <a:rPr sz="1250" b="0">
                <a:solidFill>
                  <a:srgbClr val="10151B"/>
                </a:solidFill>
                <a:latin typeface="Verdana"/>
              </a:rPr>
              <a:t>•  Email: fully working, still inside the provider's sandbox. Production access is an application, and the suppression handling it needs is already built.</a:t>
            </a:r>
          </a:p>
          <a:p>
            <a:pPr>
              <a:lnSpc>
                <a:spcPct val="115000"/>
              </a:lnSpc>
              <a:spcAft>
                <a:spcPts val="500"/>
              </a:spcAft>
            </a:pPr>
            <a:r>
              <a:rPr sz="1350" b="1">
                <a:solidFill>
                  <a:srgbClr val="0C2540"/>
                </a:solidFill>
                <a:latin typeface="Verdana"/>
              </a:rPr>
              <a:t>Needs a build, scoped and understood</a:t>
            </a:r>
          </a:p>
          <a:p>
            <a:pPr>
              <a:lnSpc>
                <a:spcPct val="115000"/>
              </a:lnSpc>
              <a:spcAft>
                <a:spcPts val="1000"/>
              </a:spcAft>
            </a:pPr>
            <a:r>
              <a:rPr sz="1250" b="0">
                <a:solidFill>
                  <a:srgbClr val="10151B"/>
                </a:solidFill>
                <a:latin typeface="Verdana"/>
              </a:rPr>
              <a:t>•  Real bank payout at the accountant step: today the transfer is made in the bank and the reference recorded. Direct NEFT/IMPS integration is a defined next phase.</a:t>
            </a:r>
          </a:p>
        </p:txBody>
      </p:sp>
      <p:sp>
        <p:nvSpPr>
          <p:cNvPr id="8" name="TextBox 7"/>
          <p:cNvSpPr txBox="1"/>
          <p:nvPr/>
        </p:nvSpPr>
        <p:spPr>
          <a:xfrm>
            <a:off x="6370167" y="1956816"/>
            <a:ext cx="5163159" cy="4242816"/>
          </a:xfrm>
          <a:prstGeom prst="rect">
            <a:avLst/>
          </a:prstGeom>
          <a:noFill/>
        </p:spPr>
        <p:txBody>
          <a:bodyPr wrap="square" anchor="t" lIns="0" rIns="0" tIns="0" bIns="0">
            <a:spAutoFit/>
          </a:bodyPr>
          <a:lstStyle/>
          <a:p>
            <a:pPr>
              <a:lnSpc>
                <a:spcPct val="115000"/>
              </a:lnSpc>
              <a:spcAft>
                <a:spcPts val="500"/>
              </a:spcAft>
            </a:pPr>
            <a:r>
              <a:rPr sz="1350" b="1">
                <a:solidFill>
                  <a:srgbClr val="0C2540"/>
                </a:solidFill>
                <a:latin typeface="Verdana"/>
              </a:rPr>
              <a:t>Hardening before high volume</a:t>
            </a:r>
          </a:p>
          <a:p>
            <a:pPr>
              <a:lnSpc>
                <a:spcPct val="115000"/>
              </a:lnSpc>
              <a:spcAft>
                <a:spcPts val="1000"/>
              </a:spcAft>
            </a:pPr>
            <a:r>
              <a:rPr sz="1250" b="0">
                <a:solidFill>
                  <a:srgbClr val="10151B"/>
                </a:solidFill>
                <a:latin typeface="Verdana"/>
              </a:rPr>
              <a:t>•  Foreign-key constraints and encryption of personal data at rest — both known, both sequenced, neither blocking a controlled launch.</a:t>
            </a:r>
          </a:p>
          <a:p>
            <a:pPr>
              <a:lnSpc>
                <a:spcPct val="115000"/>
              </a:lnSpc>
              <a:spcAft>
                <a:spcPts val="1000"/>
              </a:spcAft>
            </a:pPr>
            <a:r>
              <a:rPr sz="1250" b="0">
                <a:solidFill>
                  <a:srgbClr val="10151B"/>
                </a:solidFill>
                <a:latin typeface="Verdana"/>
              </a:rPr>
              <a:t>•  The daily reminder job runs on a single instance. It needs a distributed lock before the service scales horizontally.</a:t>
            </a:r>
          </a:p>
          <a:p>
            <a:pPr>
              <a:lnSpc>
                <a:spcPct val="115000"/>
              </a:lnSpc>
              <a:spcAft>
                <a:spcPts val="500"/>
              </a:spcAft>
            </a:pPr>
            <a:r>
              <a:rPr sz="1350" b="1">
                <a:solidFill>
                  <a:srgbClr val="0C2540"/>
                </a:solidFill>
                <a:latin typeface="Verdana"/>
              </a:rPr>
              <a:t>How we would sequence it with you</a:t>
            </a:r>
          </a:p>
          <a:p>
            <a:pPr>
              <a:lnSpc>
                <a:spcPct val="115000"/>
              </a:lnSpc>
              <a:spcAft>
                <a:spcPts val="1000"/>
              </a:spcAft>
            </a:pPr>
            <a:r>
              <a:rPr sz="1250" b="0">
                <a:solidFill>
                  <a:srgbClr val="10151B"/>
                </a:solidFill>
                <a:latin typeface="Verdana"/>
              </a:rPr>
              <a:t>•  One phase, a few weeks, run in parallel with your licensing and compliance sign-off — because those calendars are longer than this list anyway.</a:t>
            </a:r>
          </a:p>
          <a:p>
            <a:pPr>
              <a:lnSpc>
                <a:spcPct val="115000"/>
              </a:lnSpc>
              <a:spcAft>
                <a:spcPts val="1000"/>
              </a:spcAft>
            </a:pPr>
            <a:r>
              <a:rPr sz="1050" b="0">
                <a:solidFill>
                  <a:srgbClr val="5B6B7C"/>
                </a:solidFill>
                <a:latin typeface="Verdana"/>
              </a:rPr>
              <a:t>Everything above is written down in the repository's own readiness checklist. We did not assemble this slide for you; we kept it as we built.</a:t>
            </a:r>
          </a:p>
        </p:txBody>
      </p:sp>
      <p:pic>
        <p:nvPicPr>
          <p:cNvPr id="9" name="Picture 8" descr="dhanboost-mark.png"/>
          <p:cNvPicPr>
            <a:picLocks noChangeAspect="1"/>
          </p:cNvPicPr>
          <p:nvPr/>
        </p:nvPicPr>
        <p:blipFill>
          <a:blip r:embed="rId2"/>
          <a:stretch>
            <a:fillRect/>
          </a:stretch>
        </p:blipFill>
        <p:spPr>
          <a:xfrm>
            <a:off x="11030407" y="5696712"/>
            <a:ext cx="502920"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7315200" cy="274320"/>
          </a:xfrm>
          <a:prstGeom prst="rect">
            <a:avLst/>
          </a:prstGeom>
          <a:noFill/>
        </p:spPr>
        <p:txBody>
          <a:bodyPr wrap="square" anchor="t" lIns="0" rIns="0" tIns="0" bIns="0">
            <a:spAutoFit/>
          </a:bodyPr>
          <a:lstStyle/>
          <a:p>
            <a:pPr>
              <a:lnSpc>
                <a:spcPct val="115000"/>
              </a:lnSpc>
              <a:spcAft>
                <a:spcPts val="0"/>
              </a:spcAft>
            </a:pPr>
            <a:r>
              <a:rPr sz="1100" b="1">
                <a:solidFill>
                  <a:srgbClr val="E9B53A"/>
                </a:solidFill>
                <a:latin typeface="Verdana"/>
              </a:rPr>
              <a:t>WORKING WITH US</a:t>
            </a:r>
          </a:p>
        </p:txBody>
      </p:sp>
      <p:sp>
        <p:nvSpPr>
          <p:cNvPr id="4" name="TextBox 3"/>
          <p:cNvSpPr txBox="1"/>
          <p:nvPr/>
        </p:nvSpPr>
        <p:spPr>
          <a:xfrm>
            <a:off x="658368" y="749808"/>
            <a:ext cx="10874959" cy="457200"/>
          </a:xfrm>
          <a:prstGeom prst="rect">
            <a:avLst/>
          </a:prstGeom>
          <a:noFill/>
        </p:spPr>
        <p:txBody>
          <a:bodyPr wrap="square" anchor="t" lIns="0" rIns="0" tIns="0" bIns="0">
            <a:spAutoFit/>
          </a:bodyPr>
          <a:lstStyle/>
          <a:p>
            <a:pPr>
              <a:lnSpc>
                <a:spcPct val="115000"/>
              </a:lnSpc>
              <a:spcAft>
                <a:spcPts val="0"/>
              </a:spcAft>
            </a:pPr>
            <a:r>
              <a:rPr sz="3000" b="1">
                <a:solidFill>
                  <a:srgbClr val="0C2540"/>
                </a:solidFill>
                <a:latin typeface="Verdana"/>
              </a:rPr>
              <a:t>Three ways to start</a:t>
            </a:r>
          </a:p>
        </p:txBody>
      </p:sp>
      <p:sp>
        <p:nvSpPr>
          <p:cNvPr id="5" name="TextBox 4"/>
          <p:cNvSpPr txBox="1"/>
          <p:nvPr/>
        </p:nvSpPr>
        <p:spPr>
          <a:xfrm>
            <a:off x="658368" y="1298448"/>
            <a:ext cx="10874959" cy="237744"/>
          </a:xfrm>
          <a:prstGeom prst="rect">
            <a:avLst/>
          </a:prstGeom>
          <a:noFill/>
        </p:spPr>
        <p:txBody>
          <a:bodyPr wrap="square" anchor="t" lIns="0" rIns="0" tIns="0" bIns="0">
            <a:spAutoFit/>
          </a:bodyPr>
          <a:lstStyle/>
          <a:p>
            <a:pPr>
              <a:lnSpc>
                <a:spcPct val="115000"/>
              </a:lnSpc>
              <a:spcAft>
                <a:spcPts val="0"/>
              </a:spcAft>
            </a:pPr>
            <a:r>
              <a:rPr sz="1400" b="0">
                <a:solidFill>
                  <a:srgbClr val="5B6B7C"/>
                </a:solidFill>
                <a:latin typeface="Verdana"/>
              </a:rPr>
              <a:t>Same engineering team, same spine, different amount of your product in it.</a:t>
            </a:r>
          </a:p>
        </p:txBody>
      </p:sp>
      <p:sp>
        <p:nvSpPr>
          <p:cNvPr id="6" name="Rectangle 5"/>
          <p:cNvSpPr/>
          <p:nvPr/>
        </p:nvSpPr>
        <p:spPr>
          <a:xfrm>
            <a:off x="658368" y="1682496"/>
            <a:ext cx="1280160" cy="381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58368" y="1956816"/>
          <a:ext cx="10874957" cy="1674876"/>
        </p:xfrm>
        <a:graphic>
          <a:graphicData uri="http://schemas.openxmlformats.org/drawingml/2006/table">
            <a:tbl>
              <a:tblPr firstRow="1" bandRow="1">
                <a:tableStyleId>{5C22544A-7EE6-4342-B048-85BDC9FD1C3A}</a:tableStyleId>
              </a:tblPr>
              <a:tblGrid>
                <a:gridCol w="2174991"/>
                <a:gridCol w="4567482"/>
                <a:gridCol w="2066242"/>
                <a:gridCol w="2066242"/>
              </a:tblGrid>
              <a:tr h="310896">
                <a:tc>
                  <a:txBody>
                    <a:bodyPr/>
                    <a:lstStyle/>
                    <a:p>
                      <a:r>
                        <a:rPr sz="1100" b="1">
                          <a:solidFill>
                            <a:srgbClr val="FFFFFF"/>
                          </a:solidFill>
                          <a:latin typeface="Verdana"/>
                        </a:rPr>
                        <a:t>Engagement</a:t>
                      </a:r>
                    </a:p>
                  </a:txBody>
                  <a:tcPr marL="82296" marR="82296" marT="27432" marB="27432">
                    <a:solidFill>
                      <a:srgbClr val="0C2540"/>
                    </a:solidFill>
                  </a:tcPr>
                </a:tc>
                <a:tc>
                  <a:txBody>
                    <a:bodyPr/>
                    <a:lstStyle/>
                    <a:p>
                      <a:r>
                        <a:rPr sz="1100" b="1">
                          <a:solidFill>
                            <a:srgbClr val="FFFFFF"/>
                          </a:solidFill>
                          <a:latin typeface="Verdana"/>
                        </a:rPr>
                        <a:t>What you get</a:t>
                      </a:r>
                    </a:p>
                  </a:txBody>
                  <a:tcPr marL="82296" marR="82296" marT="27432" marB="27432">
                    <a:solidFill>
                      <a:srgbClr val="0C2540"/>
                    </a:solidFill>
                  </a:tcPr>
                </a:tc>
                <a:tc>
                  <a:txBody>
                    <a:bodyPr/>
                    <a:lstStyle/>
                    <a:p>
                      <a:r>
                        <a:rPr sz="1100" b="1">
                          <a:solidFill>
                            <a:srgbClr val="FFFFFF"/>
                          </a:solidFill>
                          <a:latin typeface="Verdana"/>
                        </a:rPr>
                        <a:t>Indicative timeline</a:t>
                      </a:r>
                    </a:p>
                  </a:txBody>
                  <a:tcPr marL="82296" marR="82296" marT="27432" marB="27432">
                    <a:solidFill>
                      <a:srgbClr val="0C2540"/>
                    </a:solidFill>
                  </a:tcPr>
                </a:tc>
                <a:tc>
                  <a:txBody>
                    <a:bodyPr/>
                    <a:lstStyle/>
                    <a:p>
                      <a:r>
                        <a:rPr sz="1100" b="1">
                          <a:solidFill>
                            <a:srgbClr val="FFFFFF"/>
                          </a:solidFill>
                          <a:latin typeface="Verdana"/>
                        </a:rPr>
                        <a:t>Commercials</a:t>
                      </a:r>
                    </a:p>
                  </a:txBody>
                  <a:tcPr marL="82296" marR="82296" marT="27432" marB="27432">
                    <a:solidFill>
                      <a:srgbClr val="0C2540"/>
                    </a:solidFill>
                  </a:tcPr>
                </a:tc>
              </a:tr>
              <a:tr h="454660">
                <a:tc>
                  <a:txBody>
                    <a:bodyPr/>
                    <a:lstStyle/>
                    <a:p>
                      <a:r>
                        <a:rPr sz="1100" b="0">
                          <a:solidFill>
                            <a:srgbClr val="10151B"/>
                          </a:solidFill>
                          <a:latin typeface="Verdana"/>
                        </a:rPr>
                        <a:t>White-label</a:t>
                      </a:r>
                    </a:p>
                  </a:txBody>
                  <a:tcPr marL="82296" marR="82296" marT="27432" marB="27432">
                    <a:solidFill>
                      <a:srgbClr val="FFFFFF"/>
                    </a:solidFill>
                  </a:tcPr>
                </a:tc>
                <a:tc>
                  <a:txBody>
                    <a:bodyPr/>
                    <a:lstStyle/>
                    <a:p>
                      <a:r>
                        <a:rPr sz="1100" b="0">
                          <a:solidFill>
                            <a:srgbClr val="10151B"/>
                          </a:solidFill>
                          <a:latin typeface="Verdana"/>
                        </a:rPr>
                        <a:t>This platform, your brand, your rules configured: limits, fee, tenure, roles, workflow. Your providers wired in.</a:t>
                      </a:r>
                    </a:p>
                  </a:txBody>
                  <a:tcPr marL="82296" marR="82296" marT="27432" marB="27432">
                    <a:solidFill>
                      <a:srgbClr val="FFFFFF"/>
                    </a:solidFill>
                  </a:tcPr>
                </a:tc>
                <a:tc>
                  <a:txBody>
                    <a:bodyPr/>
                    <a:lstStyle/>
                    <a:p>
                      <a:r>
                        <a:rPr sz="1100" b="0">
                          <a:solidFill>
                            <a:srgbClr val="10151B"/>
                          </a:solidFill>
                          <a:latin typeface="Verdana"/>
                        </a:rPr>
                        <a:t>Weeks, not months</a:t>
                      </a:r>
                    </a:p>
                  </a:txBody>
                  <a:tcPr marL="82296" marR="82296" marT="27432" marB="27432">
                    <a:solidFill>
                      <a:srgbClr val="FFFFFF"/>
                    </a:solidFill>
                  </a:tcPr>
                </a:tc>
                <a:tc>
                  <a:txBody>
                    <a:bodyPr/>
                    <a:lstStyle/>
                    <a:p>
                      <a:r>
                        <a:rPr sz="1100" b="0">
                          <a:solidFill>
                            <a:srgbClr val="10151B"/>
                          </a:solidFill>
                          <a:latin typeface="Verdana"/>
                        </a:rPr>
                        <a:t>TODO — insert pricing</a:t>
                      </a:r>
                    </a:p>
                  </a:txBody>
                  <a:tcPr marL="82296" marR="82296" marT="27432" marB="27432">
                    <a:solidFill>
                      <a:srgbClr val="FFFFFF"/>
                    </a:solidFill>
                  </a:tcPr>
                </a:tc>
              </a:tr>
              <a:tr h="454660">
                <a:tc>
                  <a:txBody>
                    <a:bodyPr/>
                    <a:lstStyle/>
                    <a:p>
                      <a:r>
                        <a:rPr sz="1100" b="0">
                          <a:solidFill>
                            <a:srgbClr val="10151B"/>
                          </a:solidFill>
                          <a:latin typeface="Verdana"/>
                        </a:rPr>
                        <a:t>Build on the spine</a:t>
                      </a:r>
                    </a:p>
                  </a:txBody>
                  <a:tcPr marL="82296" marR="82296" marT="27432" marB="27432">
                    <a:solidFill>
                      <a:srgbClr val="FFFFFF"/>
                    </a:solidFill>
                  </a:tcPr>
                </a:tc>
                <a:tc>
                  <a:txBody>
                    <a:bodyPr/>
                    <a:lstStyle/>
                    <a:p>
                      <a:r>
                        <a:rPr sz="1100" b="0">
                          <a:solidFill>
                            <a:srgbClr val="10151B"/>
                          </a:solidFill>
                          <a:latin typeface="Verdana"/>
                        </a:rPr>
                        <a:t>Your product — different collateral, tenure, EMI structure or segment — on the same state machine, audit and SoD core.</a:t>
                      </a:r>
                    </a:p>
                  </a:txBody>
                  <a:tcPr marL="82296" marR="82296" marT="27432" marB="27432">
                    <a:solidFill>
                      <a:srgbClr val="FFFFFF"/>
                    </a:solidFill>
                  </a:tcPr>
                </a:tc>
                <a:tc>
                  <a:txBody>
                    <a:bodyPr/>
                    <a:lstStyle/>
                    <a:p>
                      <a:r>
                        <a:rPr sz="1100" b="0">
                          <a:solidFill>
                            <a:srgbClr val="10151B"/>
                          </a:solidFill>
                          <a:latin typeface="Verdana"/>
                        </a:rPr>
                        <a:t>One quarter, typically</a:t>
                      </a:r>
                    </a:p>
                  </a:txBody>
                  <a:tcPr marL="82296" marR="82296" marT="27432" marB="27432">
                    <a:solidFill>
                      <a:srgbClr val="FFFFFF"/>
                    </a:solidFill>
                  </a:tcPr>
                </a:tc>
                <a:tc>
                  <a:txBody>
                    <a:bodyPr/>
                    <a:lstStyle/>
                    <a:p>
                      <a:r>
                        <a:rPr sz="1100" b="0">
                          <a:solidFill>
                            <a:srgbClr val="10151B"/>
                          </a:solidFill>
                          <a:latin typeface="Verdana"/>
                        </a:rPr>
                        <a:t>TODO — insert pricing</a:t>
                      </a:r>
                    </a:p>
                  </a:txBody>
                  <a:tcPr marL="82296" marR="82296" marT="27432" marB="27432">
                    <a:solidFill>
                      <a:srgbClr val="FFFFFF"/>
                    </a:solidFill>
                  </a:tcPr>
                </a:tc>
              </a:tr>
              <a:tr h="454660">
                <a:tc>
                  <a:txBody>
                    <a:bodyPr/>
                    <a:lstStyle/>
                    <a:p>
                      <a:r>
                        <a:rPr sz="1100" b="0">
                          <a:solidFill>
                            <a:srgbClr val="10151B"/>
                          </a:solidFill>
                          <a:latin typeface="Verdana"/>
                        </a:rPr>
                        <a:t>Team augmentation / AMC</a:t>
                      </a:r>
                    </a:p>
                  </a:txBody>
                  <a:tcPr marL="82296" marR="82296" marT="27432" marB="27432">
                    <a:solidFill>
                      <a:srgbClr val="FFFFFF"/>
                    </a:solidFill>
                  </a:tcPr>
                </a:tc>
                <a:tc>
                  <a:txBody>
                    <a:bodyPr/>
                    <a:lstStyle/>
                    <a:p>
                      <a:r>
                        <a:rPr sz="1100" b="0">
                          <a:solidFill>
                            <a:srgbClr val="10151B"/>
                          </a:solidFill>
                          <a:latin typeface="Verdana"/>
                        </a:rPr>
                        <a:t>Our engineers inside your team, or we run and maintain what is already live. Documentation and handover included.</a:t>
                      </a:r>
                    </a:p>
                  </a:txBody>
                  <a:tcPr marL="82296" marR="82296" marT="27432" marB="27432">
                    <a:solidFill>
                      <a:srgbClr val="FFFFFF"/>
                    </a:solidFill>
                  </a:tcPr>
                </a:tc>
                <a:tc>
                  <a:txBody>
                    <a:bodyPr/>
                    <a:lstStyle/>
                    <a:p>
                      <a:r>
                        <a:rPr sz="1100" b="0">
                          <a:solidFill>
                            <a:srgbClr val="10151B"/>
                          </a:solidFill>
                          <a:latin typeface="Verdana"/>
                        </a:rPr>
                        <a:t>Ongoing, monthly</a:t>
                      </a:r>
                    </a:p>
                  </a:txBody>
                  <a:tcPr marL="82296" marR="82296" marT="27432" marB="27432">
                    <a:solidFill>
                      <a:srgbClr val="FFFFFF"/>
                    </a:solidFill>
                  </a:tcPr>
                </a:tc>
                <a:tc>
                  <a:txBody>
                    <a:bodyPr/>
                    <a:lstStyle/>
                    <a:p>
                      <a:r>
                        <a:rPr sz="1100" b="0">
                          <a:solidFill>
                            <a:srgbClr val="10151B"/>
                          </a:solidFill>
                          <a:latin typeface="Verdana"/>
                        </a:rPr>
                        <a:t>TODO — insert pricing</a:t>
                      </a:r>
                    </a:p>
                  </a:txBody>
                  <a:tcPr marL="82296" marR="82296" marT="27432" marB="27432">
                    <a:solidFill>
                      <a:srgbClr val="FFFFFF"/>
                    </a:solidFill>
                  </a:tcPr>
                </a:tc>
              </a:tr>
            </a:tbl>
          </a:graphicData>
        </a:graphic>
      </p:graphicFrame>
      <p:sp>
        <p:nvSpPr>
          <p:cNvPr id="8" name="TextBox 7"/>
          <p:cNvSpPr txBox="1"/>
          <p:nvPr/>
        </p:nvSpPr>
        <p:spPr>
          <a:xfrm>
            <a:off x="658368" y="3796284"/>
            <a:ext cx="10874959" cy="2878836"/>
          </a:xfrm>
          <a:prstGeom prst="rect">
            <a:avLst/>
          </a:prstGeom>
          <a:noFill/>
        </p:spPr>
        <p:txBody>
          <a:bodyPr wrap="square" anchor="t" lIns="0" rIns="0" tIns="0" bIns="0">
            <a:spAutoFit/>
          </a:bodyPr>
          <a:lstStyle/>
          <a:p>
            <a:pPr>
              <a:lnSpc>
                <a:spcPct val="115000"/>
              </a:lnSpc>
              <a:spcAft>
                <a:spcPts val="0"/>
              </a:spcAft>
            </a:pPr>
            <a:r>
              <a:rPr sz="1100" b="0">
                <a:solidFill>
                  <a:srgbClr val="5B6B7C"/>
                </a:solidFill>
                <a:latin typeface="Verdana"/>
              </a:rPr>
              <a:t>TODO before presenting: fill in commercials, and decide whether to name DhanBoost as the reference client on this slide or keep it anonymous until the room is qualified.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9B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1325880"/>
            <a:ext cx="9509760" cy="1737360"/>
          </a:xfrm>
          <a:prstGeom prst="rect">
            <a:avLst/>
          </a:prstGeom>
          <a:noFill/>
        </p:spPr>
        <p:txBody>
          <a:bodyPr wrap="square" anchor="t" lIns="0" rIns="0" tIns="0" bIns="0">
            <a:spAutoFit/>
          </a:bodyPr>
          <a:lstStyle/>
          <a:p>
            <a:pPr>
              <a:lnSpc>
                <a:spcPct val="115000"/>
              </a:lnSpc>
              <a:spcAft>
                <a:spcPts val="0"/>
              </a:spcAft>
            </a:pPr>
            <a:r>
              <a:rPr sz="3300" b="1">
                <a:solidFill>
                  <a:srgbClr val="FFFFFF"/>
                </a:solidFill>
                <a:latin typeface="Verdana"/>
              </a:rPr>
              <a:t>The difference between a demo</a:t>
            </a:r>
          </a:p>
          <a:p>
            <a:pPr>
              <a:lnSpc>
                <a:spcPct val="115000"/>
              </a:lnSpc>
              <a:spcAft>
                <a:spcPts val="0"/>
              </a:spcAft>
            </a:pPr>
            <a:r>
              <a:rPr sz="3300" b="1">
                <a:solidFill>
                  <a:srgbClr val="FFFFFF"/>
                </a:solidFill>
                <a:latin typeface="Verdana"/>
              </a:rPr>
              <a:t>and a platform is the audit trail.</a:t>
            </a:r>
          </a:p>
        </p:txBody>
      </p:sp>
      <p:sp>
        <p:nvSpPr>
          <p:cNvPr id="5" name="TextBox 4"/>
          <p:cNvSpPr txBox="1"/>
          <p:nvPr/>
        </p:nvSpPr>
        <p:spPr>
          <a:xfrm>
            <a:off x="932688" y="3063240"/>
            <a:ext cx="9326880" cy="2286000"/>
          </a:xfrm>
          <a:prstGeom prst="rect">
            <a:avLst/>
          </a:prstGeom>
          <a:noFill/>
        </p:spPr>
        <p:txBody>
          <a:bodyPr wrap="square" anchor="t" lIns="0" rIns="0" tIns="0" bIns="0">
            <a:spAutoFit/>
          </a:bodyPr>
          <a:lstStyle/>
          <a:p>
            <a:pPr>
              <a:lnSpc>
                <a:spcPct val="115000"/>
              </a:lnSpc>
              <a:spcAft>
                <a:spcPts val="1100"/>
              </a:spcAft>
            </a:pPr>
            <a:r>
              <a:rPr sz="1350" b="0">
                <a:solidFill>
                  <a:srgbClr val="FDFBF6"/>
                </a:solidFill>
                <a:latin typeface="Verdana"/>
              </a:rPr>
              <a:t>Everything in this deck is running software. The screens are real, the providers are real, the state machine refuses invalid moves in production today.</a:t>
            </a:r>
          </a:p>
          <a:p>
            <a:pPr>
              <a:lnSpc>
                <a:spcPct val="115000"/>
              </a:lnSpc>
              <a:spcAft>
                <a:spcPts val="1100"/>
              </a:spcAft>
            </a:pPr>
            <a:r>
              <a:rPr sz="1350" b="0">
                <a:solidFill>
                  <a:srgbClr val="FDFBF6"/>
                </a:solidFill>
                <a:latin typeface="Verdana"/>
              </a:rPr>
              <a:t>We build the half that is hard to see: separation of duties, one honest balance, an append-only record, and documentation that lets your team take over.</a:t>
            </a:r>
          </a:p>
          <a:p>
            <a:pPr>
              <a:lnSpc>
                <a:spcPct val="115000"/>
              </a:lnSpc>
              <a:spcAft>
                <a:spcPts val="1100"/>
              </a:spcAft>
            </a:pPr>
            <a:r>
              <a:rPr sz="1350" b="0">
                <a:solidFill>
                  <a:srgbClr val="FDFBF6"/>
                </a:solidFill>
                <a:latin typeface="Verdana"/>
              </a:rPr>
              <a:t>Next step — a live driven demo on your questions, not our script. Bring your credit policy and your compliance lead; we will walk a loan from sign-up to closure and stop wherever you want to look underneath.</a:t>
            </a:r>
          </a:p>
        </p:txBody>
      </p:sp>
      <p:sp>
        <p:nvSpPr>
          <p:cNvPr id="6" name="TextBox 5"/>
          <p:cNvSpPr txBox="1"/>
          <p:nvPr/>
        </p:nvSpPr>
        <p:spPr>
          <a:xfrm>
            <a:off x="932688" y="5760720"/>
            <a:ext cx="9326880" cy="457200"/>
          </a:xfrm>
          <a:prstGeom prst="rect">
            <a:avLst/>
          </a:prstGeom>
          <a:noFill/>
        </p:spPr>
        <p:txBody>
          <a:bodyPr wrap="square" anchor="t" lIns="0" rIns="0" tIns="0" bIns="0">
            <a:spAutoFit/>
          </a:bodyPr>
          <a:lstStyle/>
          <a:p>
            <a:pPr>
              <a:lnSpc>
                <a:spcPct val="115000"/>
              </a:lnSpc>
              <a:spcAft>
                <a:spcPts val="0"/>
              </a:spcAft>
            </a:pPr>
            <a:r>
              <a:rPr sz="1300" b="1">
                <a:solidFill>
                  <a:srgbClr val="E9B53A"/>
                </a:solidFill>
                <a:latin typeface="Verdana"/>
              </a:rPr>
              <a:t>SoftSolutionsAI  ·  softsolutionsai.com  ·  TODO: contact name, email, phone</a:t>
            </a:r>
          </a:p>
        </p:txBody>
      </p:sp>
      <p:pic>
        <p:nvPicPr>
          <p:cNvPr id="7" name="Picture 6" descr="dhanboost-mark.png"/>
          <p:cNvPicPr>
            <a:picLocks noChangeAspect="1"/>
          </p:cNvPicPr>
          <p:nvPr/>
        </p:nvPicPr>
        <p:blipFill>
          <a:blip r:embed="rId2"/>
          <a:stretch>
            <a:fillRect/>
          </a:stretch>
        </p:blipFill>
        <p:spPr>
          <a:xfrm>
            <a:off x="10801807" y="5468112"/>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